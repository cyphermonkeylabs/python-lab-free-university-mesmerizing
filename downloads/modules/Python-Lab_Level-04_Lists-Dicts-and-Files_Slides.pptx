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1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Lists, Dicts and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120091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30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An address card kept in a dict and saved as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text file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24916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4229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27660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Store several values in a list and read one by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index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01726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4190999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04469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Look up a value in a dict by its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78536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95909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81279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Tell a set apart from a 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55345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72719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58088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Read and write a small text file with pathlib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4_Lists-Dicts-and-File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F1E3FF"/>
          </a:solidFill>
          <a:ln w="19050">
            <a:solidFill>
              <a:srgbClr val="634A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  <p:pic>
        <p:nvPicPr>
          <p:cNvPr id="28" name="cm-brand" descr=".brand-mo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9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2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422526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Store several values in a list and read one by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48914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Look up a value in a dict by its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04513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Tell a set apart from a list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489321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Read and write a small text file with pathlib</a:t>
            </a:r>
          </a:p>
        </p:txBody>
      </p:sp>
      <p:pic>
        <p:nvPicPr>
          <p:cNvPr id="25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6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3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list keeps an 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E3C8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E3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list is a mutable 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Indexes start at 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append adds at the end.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4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list keeps an order  (continued)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5414264"/>
          </a:xfrm>
          <a:prstGeom prst="roundRect">
            <a:avLst>
              <a:gd name="adj" fmla="val 10000"/>
            </a:avLst>
          </a:prstGeom>
          <a:solidFill>
            <a:srgbClr val="FFBCD2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Pentagon 10"/>
          <p:cNvSpPr/>
          <p:nvPr/>
        </p:nvSpPr>
        <p:spPr>
          <a:xfrm>
            <a:off x="530352" y="3071876"/>
            <a:ext cx="1097280" cy="1097280"/>
          </a:xfrm>
          <a:prstGeom prst="homePlat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2561844"/>
            <a:ext cx="9829800" cy="2117344"/>
          </a:xfrm>
          <a:prstGeom prst="rect">
            <a:avLst/>
          </a:prstGeom>
          <a:solidFill>
            <a:srgbClr val="FFB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Python wiki's TimeComplexity page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describes CPython list costs; it is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community notes, not a language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guarantee.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5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list keeps an 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896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names = ["Ada", "Grace"]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names.append("Guido")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print(names[0], len(names))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print(names[1:3])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Ada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['Grace', 'Guido']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6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dict looks up by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E3C8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E3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dict maps each key to one value.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 tests keys, not values.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7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dict looks up by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896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card = {"name": "Ada", "year": 1815}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print(card["name"])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print("year" in card)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print(card.get("city", "unknown"))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Ada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True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unknown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8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set keeps unique items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5414264"/>
          </a:xfrm>
          <a:prstGeom prst="roundRect">
            <a:avLst>
              <a:gd name="adj" fmla="val 10000"/>
            </a:avLst>
          </a:prstGeom>
          <a:solidFill>
            <a:srgbClr val="E3C8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3071876"/>
            <a:ext cx="1097280" cy="1097280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054604"/>
            <a:ext cx="9829800" cy="1131823"/>
          </a:xfrm>
          <a:prstGeom prst="rect">
            <a:avLst/>
          </a:prstGeom>
          <a:solidFill>
            <a:srgbClr val="E3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set does not keep order you can rely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on, and it drops duplicates.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9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set keeps unique items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896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tools = {"pen", "ink", "pen"}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print(len(tools))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print("ink" in tools)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True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10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file should say its encoding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E3C8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E3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pathlib.Path is the object-oriented 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to name a file.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write_text and read_text take 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encoding.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954354"/>
            <a:ext cx="9853486" cy="101498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This sample uses a temporary directory so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build does not leave a file behind.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11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file should say its encoding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896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tempfile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from pathlib import Path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folder = Path(tempfile.mkdtemp())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path = folder / "card.txt"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path.write_text("Ada\n", encoding="utf-8")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print(path.read_text(encoding="utf-8").strip())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12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file should say its encoding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4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5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13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E3C8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E3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is the index of the first item in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Does in on a dict test keys or values?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Why pass encoding="utf-8" when you read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text?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634A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04   ·   Lists, Dicts and Files   ·   14 / 14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9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202690"/>
            <a:ext cx="402336" cy="402336"/>
          </a:xfrm>
          <a:prstGeom prst="hexagon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Built-in types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https://docs.python.org/3/library/stdtypes.html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85772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275078"/>
            <a:ext cx="402336" cy="402336"/>
          </a:xfrm>
          <a:prstGeom prst="hexagon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022348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pathlib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https://docs.python.org/3/library/pathlib.html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058160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3347466"/>
            <a:ext cx="402336" cy="402336"/>
          </a:xfrm>
          <a:prstGeom prst="hexagon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094736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Input and output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https://docs.python.org/3/tutorial/inputoutput.html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130548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C79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4419854"/>
            <a:ext cx="402336" cy="402336"/>
          </a:xfrm>
          <a:prstGeom prst="hexagon">
            <a:avLst/>
          </a:prstGeom>
          <a:solidFill>
            <a:srgbClr val="C79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167124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wiki: TimeComplexity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https://wiki.python.org/moin/TimeComplexity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EFE0FF"/>
          </a:solidFill>
          <a:ln w="19050">
            <a:solidFill>
              <a:srgbClr val="634A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  <p:pic>
        <p:nvPicPr>
          <p:cNvPr id="2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Lists, Dicts and Files</dc:title>
  <dc:subject>Python Lab Level 4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
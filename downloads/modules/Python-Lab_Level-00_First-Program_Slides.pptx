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1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92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30"/>
                </a:solidFill>
                <a:latin typeface="Calibri"/>
              </a:rPr>
              <a:t>LEVEL 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86384"/>
            <a:ext cx="7040880" cy="109728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81C30"/>
                </a:solidFill>
                <a:latin typeface="Calibri"/>
              </a:rPr>
              <a:t>First Program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6949440" cy="9418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About 4 hours  ·  Python 3.8+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Project: A Hello, me card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Examples run on CPython 3.12.3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30352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017520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Run a one-line program and read what it printed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58184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6" name="Rounded Rectangle 15"/>
          <p:cNvSpPr/>
          <p:nvPr/>
        </p:nvSpPr>
        <p:spPr>
          <a:xfrm>
            <a:off x="530352" y="39319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785616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Read an error message from the last line upward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47000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553712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Find the official docs page for a built-in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function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294376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530352" y="5468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321808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Explain what a program is in your own words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11480"/>
            <a:ext cx="4206240" cy="2880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pic>
        <p:nvPicPr>
          <p:cNvPr id="25" name="Picture 24" descr="Python-Lab_Level-00_First-Program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3931920" cy="22128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772400" y="2880360"/>
            <a:ext cx="3931920" cy="32004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30"/>
                </a:solidFill>
                <a:latin typeface="Calibri"/>
              </a:rPr>
              <a:t>Cover card for this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474720"/>
            <a:ext cx="4206240" cy="2697480"/>
          </a:xfrm>
          <a:prstGeom prst="roundRect">
            <a:avLst>
              <a:gd name="adj" fmla="val 15000"/>
            </a:avLst>
          </a:prstGeom>
          <a:solidFill>
            <a:srgbClr val="DEF7E1"/>
          </a:solidFill>
          <a:ln w="19050">
            <a:solidFill>
              <a:srgbClr val="426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How to use these slides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Read a slide, then try the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in your editor or the lab runner.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Green panels are real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Not accredited coursework.</a:t>
            </a:r>
          </a:p>
        </p:txBody>
      </p:sp>
      <p:pic>
        <p:nvPicPr>
          <p:cNvPr id="28" name="cm-brand" descr=".brand-mon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9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2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will be able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640080" y="1391031"/>
            <a:ext cx="512064" cy="512064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292840" y="2196846"/>
            <a:ext cx="256032" cy="256032"/>
          </a:xfrm>
          <a:prstGeom prst="downArrow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422526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Run a one-line program and read what it printed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07158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5" name="Oval 14"/>
          <p:cNvSpPr/>
          <p:nvPr/>
        </p:nvSpPr>
        <p:spPr>
          <a:xfrm>
            <a:off x="640080" y="2746629"/>
            <a:ext cx="512064" cy="51206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3552444"/>
            <a:ext cx="256032" cy="256032"/>
          </a:xfrm>
          <a:prstGeom prst="downArrow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778125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Read an error message from the last line upward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62756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Oval 18"/>
          <p:cNvSpPr/>
          <p:nvPr/>
        </p:nvSpPr>
        <p:spPr>
          <a:xfrm>
            <a:off x="640080" y="4102227"/>
            <a:ext cx="512064" cy="512064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92840" y="4908042"/>
            <a:ext cx="256032" cy="256032"/>
          </a:xfrm>
          <a:prstGeom prst="downArrow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4133723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Find the official docs page for a built-in function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18354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40080" y="5457825"/>
            <a:ext cx="512064" cy="512064"/>
          </a:xfrm>
          <a:prstGeom prst="ellips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460111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Explain what a program is in your own words</a:t>
            </a:r>
          </a:p>
        </p:txBody>
      </p:sp>
      <p:pic>
        <p:nvPicPr>
          <p:cNvPr id="25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6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3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a program 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BEEFC4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73606"/>
            <a:ext cx="9829800" cy="1131823"/>
          </a:xfrm>
          <a:prstGeom prst="rect">
            <a:avLst/>
          </a:prstGeom>
          <a:solidFill>
            <a:srgbClr val="BE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program is a list of instructions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computer follows in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435602"/>
            <a:ext cx="9829800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Python reads your file from the top 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does each instruction in turn.</a:t>
            </a:r>
          </a:p>
        </p:txBody>
      </p:sp>
      <p:pic>
        <p:nvPicPr>
          <p:cNvPr id="1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4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Your first 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BEEFC4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19986"/>
            <a:ext cx="9829800" cy="639064"/>
          </a:xfrm>
          <a:prstGeom prst="rect">
            <a:avLst/>
          </a:prstGeom>
          <a:solidFill>
            <a:srgbClr val="BE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print shows a value on the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Text goes inside quotes.</a:t>
            </a:r>
          </a:p>
        </p:txBody>
      </p:sp>
      <p:pic>
        <p:nvPicPr>
          <p:cNvPr id="1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5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Your first 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59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print("Hello, me")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print("My first program")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Hello, 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My first program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6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Printing more than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BEEFC4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19986"/>
            <a:ext cx="9829800" cy="639064"/>
          </a:xfrm>
          <a:prstGeom prst="rect">
            <a:avLst/>
          </a:prstGeom>
          <a:solidFill>
            <a:srgbClr val="BE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can print numbers and do arithmetic.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435602"/>
            <a:ext cx="9829800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Python works the answer out before 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prints.</a:t>
            </a:r>
          </a:p>
        </p:txBody>
      </p:sp>
      <p:pic>
        <p:nvPicPr>
          <p:cNvPr id="1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7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Printing more than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59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print(2 + 3)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print("2 + 3 =", 2 + 3)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2 + 3 =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8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Reading an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BEEFC4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459653"/>
            <a:ext cx="9853486" cy="639064"/>
          </a:xfrm>
          <a:prstGeom prst="rect">
            <a:avLst/>
          </a:prstGeom>
          <a:solidFill>
            <a:srgbClr val="BE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An error is not a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traceback is a map: start at the last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line, which names the problem.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This example catches the error so you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can see its message.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9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Reading an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59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try: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print(undefined_name)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except NameError as err: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print("NameError:", err)</a:t>
            </a:r>
          </a:p>
        </p:txBody>
      </p:sp>
      <p:pic>
        <p:nvPicPr>
          <p:cNvPr id="13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4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10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Reading an error  output (1/1)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70583"/>
            <a:ext cx="1110996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NameError: name 'undefined_name' is not defined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97296"/>
            <a:ext cx="11109960" cy="42062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4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5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11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Find the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BEEFC4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73606"/>
            <a:ext cx="9829800" cy="1131823"/>
          </a:xfrm>
          <a:prstGeom prst="rect">
            <a:avLst/>
          </a:prstGeom>
          <a:solidFill>
            <a:srgbClr val="BE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Every built-in function has a page 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official documentation.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435602"/>
            <a:ext cx="9829800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Search for print() and read its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parameters, such as sep and end.</a:t>
            </a:r>
          </a:p>
        </p:txBody>
      </p:sp>
      <p:pic>
        <p:nvPicPr>
          <p:cNvPr id="1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12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Find the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599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print("a", "b", "c", sep="-")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print("no newline", end="!")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a-b-c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no newline!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  <p:pic>
        <p:nvPicPr>
          <p:cNvPr id="17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8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13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Check yourself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BEEFC4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13273"/>
            <a:ext cx="9853486" cy="1131823"/>
          </a:xfrm>
          <a:prstGeom prst="rect">
            <a:avLst/>
          </a:prstGeom>
          <a:solidFill>
            <a:srgbClr val="BE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print("2 + 3") show, compared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with print(2 + 3)?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Which line of a traceback names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problem?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5142314"/>
            <a:ext cx="9853486" cy="639064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sep change?</a:t>
            </a:r>
          </a:p>
        </p:txBody>
      </p:sp>
      <p:pic>
        <p:nvPicPr>
          <p:cNvPr id="19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0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14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Project: Hello, me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BEEFC4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427226"/>
            <a:ext cx="9829800" cy="1624584"/>
          </a:xfrm>
          <a:prstGeom prst="rect">
            <a:avLst/>
          </a:prstGeom>
          <a:solidFill>
            <a:srgbClr val="BE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Print four lines: your name, one thing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are learning, one thing you like,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and today's goal.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Then change the sep between two items.</a:t>
            </a:r>
          </a:p>
        </p:txBody>
      </p:sp>
      <p:pic>
        <p:nvPicPr>
          <p:cNvPr id="16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17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2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00   ·   First Program   ·   15 / 15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2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Sources and 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430000" cy="133841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Hexagon 10"/>
          <p:cNvSpPr/>
          <p:nvPr/>
        </p:nvSpPr>
        <p:spPr>
          <a:xfrm>
            <a:off x="502920" y="1381421"/>
            <a:ext cx="402336" cy="402336"/>
          </a:xfrm>
          <a:prstGeom prst="hexagon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49959"/>
            <a:ext cx="10561320" cy="1265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tutorial: An informal introduction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https://docs.python.org/3/tutorial/introduction.html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43234"/>
            <a:ext cx="11430000" cy="133841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02920" y="2811272"/>
            <a:ext cx="402336" cy="402336"/>
          </a:xfrm>
          <a:prstGeom prst="hexagon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379810"/>
            <a:ext cx="10561320" cy="1265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print()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https://docs.python.org/3/library/functions.html#print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73085"/>
            <a:ext cx="11430000" cy="133841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EE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Hexagon 16"/>
          <p:cNvSpPr/>
          <p:nvPr/>
        </p:nvSpPr>
        <p:spPr>
          <a:xfrm>
            <a:off x="502920" y="4241122"/>
            <a:ext cx="402336" cy="402336"/>
          </a:xfrm>
          <a:prstGeom prst="hexagon">
            <a:avLst/>
          </a:prstGeom>
          <a:solidFill>
            <a:srgbClr val="7E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809661"/>
            <a:ext cx="10561320" cy="1265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tutorial: Errors and exceptions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https://docs.python.org/3/tutorial/errors.html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184648"/>
            <a:ext cx="11430000" cy="1143000"/>
          </a:xfrm>
          <a:prstGeom prst="roundRect">
            <a:avLst>
              <a:gd name="adj" fmla="val 15000"/>
            </a:avLst>
          </a:prstGeom>
          <a:solidFill>
            <a:srgbClr val="DAF6DE"/>
          </a:solidFill>
          <a:ln w="19050">
            <a:solidFill>
              <a:srgbClr val="426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Code © CypherMonkeyLabs, MIT.  Text CC BY-NC-SA 4.0.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Educational material, not accredited coursework. No outcome is promised.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Python is a trademark of the Python Software Foundation.</a:t>
            </a:r>
          </a:p>
        </p:txBody>
      </p:sp>
      <p:pic>
        <p:nvPicPr>
          <p:cNvPr id="20" name="cm-brand" descr=".brand-mo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525" y="6343650"/>
            <a:ext cx="341367" cy="341367"/>
          </a:xfrm>
          <a:prstGeom prst="rect">
            <a:avLst/>
          </a:prstGeom>
        </p:spPr>
      </p:pic>
      <p:sp>
        <p:nvSpPr>
          <p:cNvPr id="21" name="cm-brand-text"/>
          <p:cNvSpPr txBox="1"/>
          <p:nvPr/>
        </p:nvSpPr>
        <p:spPr>
          <a:xfrm>
            <a:off x="8290352" y="6377940"/>
            <a:ext cx="2560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AF0"/>
                </a:solidFill>
              </a:rPr>
              <a:t>cyphermonkeylabs.com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Program</dc:title>
  <dc:subject>Python Lab Level 0</dc:subject>
  <dc:creator>CypherMonkeyLabs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
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81C30"/>
                </a:solidFill>
                <a:latin typeface="Calibri"/>
              </a:rPr>
              <a:t>Functions and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9418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6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Unit converter CLI with tested pure functions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9008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01752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Define functions with positional, keyword,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default and variadic parameters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5818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3931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78561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Explain the LEGB rule and predict which name 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line of code sees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52628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7000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55371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Avoid the mutable-default-argument trap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29437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4681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32180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Write a docstring that follows PEP 257 and 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signature with PEP 484 hints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3_Functions-and-Scope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FFE7D0"/>
          </a:solidFill>
          <a:ln w="19050">
            <a:solidFill>
              <a:srgbClr val="7C5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  <p:pic>
        <p:nvPicPr>
          <p:cNvPr id="28" name="cm-brand" descr=".brand-mon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9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2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234567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Define functions with positional, keyword, default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and variadic parameters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590165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Explain the LEGB rule and predict which name a line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of code sees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4104513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Avoid the mutable-default-argument trap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301361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Write a docstring that follows PEP 257 and 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signature with PEP 484 hints</a:t>
            </a:r>
          </a:p>
        </p:txBody>
      </p:sp>
      <p:pic>
        <p:nvPicPr>
          <p:cNvPr id="25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6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3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Why functions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CFA1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FFC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function gives a block of code a name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 you can reuse it and test it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89222"/>
            <a:ext cx="9829800" cy="162458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Keep each function doing one thing and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returning a value instead of printing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it.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4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Defining and calling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7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area(width, height=1):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"""Return the area of a rectangle."""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width * height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print(area(3, 4))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print(area(5))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print(area(height=2, width=6))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5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Defining and calling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CFA1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FFC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width is a required parameter; height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has a default value.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Keyword arguments let you pass values by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name, in any order.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6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Variadic parameters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5414264"/>
          </a:xfrm>
          <a:prstGeom prst="roundRect">
            <a:avLst>
              <a:gd name="adj" fmla="val 10000"/>
            </a:avLst>
          </a:prstGeom>
          <a:solidFill>
            <a:srgbClr val="FFCFA1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3071876"/>
            <a:ext cx="1097280" cy="1097280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2808224"/>
            <a:ext cx="9829800" cy="1624584"/>
          </a:xfrm>
          <a:prstGeom prst="rect">
            <a:avLst/>
          </a:prstGeom>
          <a:solidFill>
            <a:srgbClr val="FFC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args collects extra positional arguments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into a tuple; kwargs collects extra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keyword arguments into a dict.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7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Variadic parameters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AD7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describe(*args, **kwargs):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len(args), sorted(kwargs)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print(describe(1, 2, 3, unit="cm", colour="red"))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8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Variadic parameters  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70583"/>
            <a:ext cx="1110996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(3, ['colour', 'unit'])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4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5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9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LEGB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CFA1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427226"/>
            <a:ext cx="9829800" cy="1624584"/>
          </a:xfrm>
          <a:prstGeom prst="rect">
            <a:avLst/>
          </a:prstGeom>
          <a:solidFill>
            <a:srgbClr val="FFC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Python looks a name up in this order: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Local, Enclosing function, Global,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Built-in.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89222"/>
            <a:ext cx="9829800" cy="162458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Assigning to a name inside a function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makes it local to that function unless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declare global or nonlocal.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10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LEGB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7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x = "global"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outer():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x = "enclosing"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def inner():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nonlocal 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x = "changed by inner"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inner()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print(outer())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changed by inner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global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11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mutable default trap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5414264"/>
          </a:xfrm>
          <a:prstGeom prst="roundRect">
            <a:avLst>
              <a:gd name="adj" fmla="val 10000"/>
            </a:avLst>
          </a:prstGeom>
          <a:solidFill>
            <a:srgbClr val="FFCFA1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3071876"/>
            <a:ext cx="1097280" cy="1097280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054604"/>
            <a:ext cx="9829800" cy="1131823"/>
          </a:xfrm>
          <a:prstGeom prst="rect">
            <a:avLst/>
          </a:prstGeom>
          <a:solidFill>
            <a:srgbClr val="FFC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Default values are evaluated once, when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def runs, not on each call.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12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mutable default trap  (1/2)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AD7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add_item(item, bucket=[]):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bucket.append(item)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bucket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print(add_item("a"))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print(add_item("b"))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add_item_safe(item, bucket=None):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if bucket is None: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bucket = []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bucket.append(item)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bucket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print(add_item_safe("a"))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13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mutable default trap  (2/2)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AD7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print(add_item_safe("b"))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14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mutable default trap  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70583"/>
            <a:ext cx="1110996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['a']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['a', 'b']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['a']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['b']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4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5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15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Docstrings and hints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CFA1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71693"/>
            <a:ext cx="9853486" cy="1014983"/>
          </a:xfrm>
          <a:prstGeom prst="rect">
            <a:avLst/>
          </a:prstGeom>
          <a:solidFill>
            <a:srgbClr val="FFC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PEP 257 describes docstring conventions: 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short summary line, then detail if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PEP 484 defines the type-hint syntax.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954354"/>
            <a:ext cx="9853486" cy="101498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Hints are not enforced at run time; a checker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such as mypy or pyright reads them.</a:t>
            </a:r>
          </a:p>
        </p:txBody>
      </p:sp>
      <p:pic>
        <p:nvPicPr>
          <p:cNvPr id="19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0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16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Docstrings and hints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AD7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celsius_to_fahrenheit(c: float) -&gt; float: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"""Convert degrees Celsius to degrees Fahrenheit."""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c * 9 / 5 + 32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print(celsius_to_fahrenheit(100))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17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Docstrings and hints  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70583"/>
            <a:ext cx="1110996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212.0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4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5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18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CFA1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FFC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area(height=2, width=6)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return?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Why does add_item("b") print ['a', 'b']?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Which scope does a name assigned inside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inner belong to without nonlocal?</a:t>
            </a:r>
          </a:p>
        </p:txBody>
      </p:sp>
      <p:pic>
        <p:nvPicPr>
          <p:cNvPr id="19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0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19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Project: Unit converter CLI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CFA1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180845"/>
            <a:ext cx="9829800" cy="2117344"/>
          </a:xfrm>
          <a:prstGeom prst="rect">
            <a:avLst/>
          </a:prstGeom>
          <a:solidFill>
            <a:srgbClr val="FFC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Build three pure functions (km to miles,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kg to pounds, Celsius to Fahrenheit),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add docstrings and hints, then write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four pytest tests.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Stretch: accept values with argparse.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03   ·   Functions and Scope   ·   20 / 20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095451"/>
            <a:ext cx="402336" cy="402336"/>
          </a:xfrm>
          <a:prstGeom prst="hexagon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tutorial: More on defining functions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https://docs.python.org/3/tutorial/controlflow.html#defining-functions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771294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1953361"/>
            <a:ext cx="402336" cy="402336"/>
          </a:xfrm>
          <a:prstGeom prst="hexagon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1807870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257 Docstring Conventions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https://peps.python.org/pep-0257/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629204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2811271"/>
            <a:ext cx="402336" cy="402336"/>
          </a:xfrm>
          <a:prstGeom prst="hexagon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2665780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484 Type Hints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https://peps.python.org/pep-0484/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487115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Hexagon 19"/>
          <p:cNvSpPr/>
          <p:nvPr/>
        </p:nvSpPr>
        <p:spPr>
          <a:xfrm>
            <a:off x="502920" y="3669182"/>
            <a:ext cx="402336" cy="402336"/>
          </a:xfrm>
          <a:prstGeom prst="hexagon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3523691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8 Style Guide for Python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https://peps.python.org/pep-0008/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345025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Hexagon 22"/>
          <p:cNvSpPr/>
          <p:nvPr/>
        </p:nvSpPr>
        <p:spPr>
          <a:xfrm>
            <a:off x="502920" y="4527092"/>
            <a:ext cx="402336" cy="402336"/>
          </a:xfrm>
          <a:prstGeom prst="hexagon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381601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reference: Naming and binding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https://docs.python.org/3/reference/executionmodel.html#naming-and-binding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FFE4CA"/>
          </a:solidFill>
          <a:ln w="19050">
            <a:solidFill>
              <a:srgbClr val="7C5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  <p:pic>
        <p:nvPicPr>
          <p:cNvPr id="2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Functions and Scope</dc:title>
  <dc:subject>Python Lab Level 3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
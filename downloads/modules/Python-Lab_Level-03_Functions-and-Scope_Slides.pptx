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03   ·   Functions and Scope   ·   1 / 20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292608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81C30"/>
                </a:solidFill>
                <a:latin typeface="Calibri"/>
              </a:rPr>
              <a:t>LEVEL 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786384"/>
            <a:ext cx="7040880" cy="1097280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81C30"/>
                </a:solidFill>
                <a:latin typeface="Calibri"/>
              </a:rPr>
              <a:t>Functions and Scope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938528"/>
            <a:ext cx="6949440" cy="9418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About 6 hours  ·  Python 3.8+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Project: Unit converter CLI with tested pure functions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Examples run on CPython 3.12.3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990088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3" name="Rounded Rectangle 12"/>
          <p:cNvSpPr/>
          <p:nvPr/>
        </p:nvSpPr>
        <p:spPr>
          <a:xfrm>
            <a:off x="530352" y="31638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4128" y="3017520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Define functions with positional, keyword,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default and variadic parameters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758184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6" name="Rounded Rectangle 15"/>
          <p:cNvSpPr/>
          <p:nvPr/>
        </p:nvSpPr>
        <p:spPr>
          <a:xfrm>
            <a:off x="530352" y="39319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3785616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Explain the LEGB rule and predict which name 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line of code sees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526280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9" name="Rounded Rectangle 18"/>
          <p:cNvSpPr/>
          <p:nvPr/>
        </p:nvSpPr>
        <p:spPr>
          <a:xfrm>
            <a:off x="530352" y="470001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128" y="4553712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Avoid the mutable-default-argument trap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5294376"/>
            <a:ext cx="694944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7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22" name="Rounded Rectangle 21"/>
          <p:cNvSpPr/>
          <p:nvPr/>
        </p:nvSpPr>
        <p:spPr>
          <a:xfrm>
            <a:off x="530352" y="546811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7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128" y="5321808"/>
            <a:ext cx="6172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Write a docstring that follows PEP 257 and 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81C30"/>
                </a:solidFill>
                <a:latin typeface="Calibri"/>
              </a:rPr>
              <a:t>signature with PEP 484 hints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411480"/>
            <a:ext cx="4206240" cy="28803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pic>
        <p:nvPicPr>
          <p:cNvPr id="25" name="Picture 24" descr="Python-Lab_Level-03_Functions-and-Scope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640080"/>
            <a:ext cx="3931920" cy="2212848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7772400" y="2880360"/>
            <a:ext cx="3931920" cy="32004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81C30"/>
                </a:solidFill>
                <a:latin typeface="Calibri"/>
              </a:rPr>
              <a:t>Cover card for this Level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474720"/>
            <a:ext cx="4206240" cy="2697480"/>
          </a:xfrm>
          <a:prstGeom prst="roundRect">
            <a:avLst>
              <a:gd name="adj" fmla="val 15000"/>
            </a:avLst>
          </a:prstGeom>
          <a:solidFill>
            <a:srgbClr val="FFE7D0"/>
          </a:solidFill>
          <a:ln w="19050">
            <a:solidFill>
              <a:srgbClr val="7C5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How to use these slides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Read a slide, then try the code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in your editor or the lab runner.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Green panels are real output.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Not accredited coursework.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03   ·   Functions and Scope   ·   2 / 20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56032"/>
            <a:ext cx="11430000" cy="640080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You will be able 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051560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640080" y="1391031"/>
            <a:ext cx="512064" cy="512064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1292840" y="2196846"/>
            <a:ext cx="256032" cy="256032"/>
          </a:xfrm>
          <a:prstGeom prst="downArrow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25880" y="1234567"/>
            <a:ext cx="9692640" cy="824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Define functions with positional, keyword, default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and variadic parameters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407158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5" name="Oval 14"/>
          <p:cNvSpPr/>
          <p:nvPr/>
        </p:nvSpPr>
        <p:spPr>
          <a:xfrm>
            <a:off x="640080" y="2746629"/>
            <a:ext cx="512064" cy="512064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1292840" y="3552444"/>
            <a:ext cx="256032" cy="256032"/>
          </a:xfrm>
          <a:prstGeom prst="downArrow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25880" y="2590165"/>
            <a:ext cx="9692640" cy="824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Explain the LEGB rule and predict which name a line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of code sees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762756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9" name="Oval 18"/>
          <p:cNvSpPr/>
          <p:nvPr/>
        </p:nvSpPr>
        <p:spPr>
          <a:xfrm>
            <a:off x="640080" y="4102227"/>
            <a:ext cx="512064" cy="512064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1292840" y="4908042"/>
            <a:ext cx="256032" cy="256032"/>
          </a:xfrm>
          <a:prstGeom prst="downArrow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25880" y="4104513"/>
            <a:ext cx="9692640" cy="5074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Avoid the mutable-default-argument trap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118354"/>
            <a:ext cx="11338560" cy="119100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7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23" name="Oval 22"/>
          <p:cNvSpPr/>
          <p:nvPr/>
        </p:nvSpPr>
        <p:spPr>
          <a:xfrm>
            <a:off x="640080" y="5457825"/>
            <a:ext cx="512064" cy="512064"/>
          </a:xfrm>
          <a:prstGeom prst="ellipse">
            <a:avLst/>
          </a:prstGeom>
          <a:solidFill>
            <a:srgbClr val="FF7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81C30"/>
                </a:solidFill>
                <a:latin typeface="Calibri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5880" y="5301361"/>
            <a:ext cx="9692640" cy="8249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Write a docstring that follows PEP 257 and 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81C30"/>
                </a:solidFill>
                <a:latin typeface="Calibri"/>
              </a:rPr>
              <a:t>signature with PEP 484 hints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03   ·   Functions and Scope   ·   3 / 20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Why functions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FCFA1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690878"/>
            <a:ext cx="1097280" cy="109728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673606"/>
            <a:ext cx="9829800" cy="1131823"/>
          </a:xfrm>
          <a:prstGeom prst="rect">
            <a:avLst/>
          </a:prstGeom>
          <a:solidFill>
            <a:srgbClr val="FFC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 function gives a block of code a name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so you can reuse it and test it alone.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3675380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4452874"/>
            <a:ext cx="1097280" cy="1097280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4189222"/>
            <a:ext cx="9829800" cy="1624584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Keep each function doing one thing and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returning a value instead of printing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03   ·   Functions and Scope   ·   4 / 20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Defining and calling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690372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6903720" cy="365760"/>
          </a:xfrm>
          <a:prstGeom prst="rect">
            <a:avLst/>
          </a:prstGeom>
          <a:solidFill>
            <a:srgbClr val="AD7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668426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def area(width, height=1):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"""Return the area of a rectangle."""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return width * height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print(area(3, 4))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print(area(5))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print(area(height=2, width=6))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13384"/>
            <a:ext cx="434340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Rectangle 13"/>
          <p:cNvSpPr/>
          <p:nvPr/>
        </p:nvSpPr>
        <p:spPr>
          <a:xfrm>
            <a:off x="7452360" y="913384"/>
            <a:ext cx="434340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71231" y="1352295"/>
            <a:ext cx="411480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12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5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12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1" y="5760720"/>
            <a:ext cx="4114800" cy="475488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03   ·   Functions and Scope   ·   5 / 20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Defining and calling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FCFA1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690878"/>
            <a:ext cx="1097280" cy="109728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673606"/>
            <a:ext cx="9829800" cy="1131823"/>
          </a:xfrm>
          <a:prstGeom prst="rect">
            <a:avLst/>
          </a:prstGeom>
          <a:solidFill>
            <a:srgbClr val="FFC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width is a required parameter; height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has a default value.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3675380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4452874"/>
            <a:ext cx="1097280" cy="1097280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4435602"/>
            <a:ext cx="9829800" cy="1131823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Keyword arguments let you pass values by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name, in any order.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03   ·   Functions and Scope   ·   6 / 20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Variadic parameters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5414264"/>
          </a:xfrm>
          <a:prstGeom prst="roundRect">
            <a:avLst>
              <a:gd name="adj" fmla="val 10000"/>
            </a:avLst>
          </a:prstGeom>
          <a:solidFill>
            <a:srgbClr val="FFCFA1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3071876"/>
            <a:ext cx="1097280" cy="109728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2808224"/>
            <a:ext cx="9829800" cy="1624584"/>
          </a:xfrm>
          <a:prstGeom prst="rect">
            <a:avLst/>
          </a:prstGeom>
          <a:solidFill>
            <a:srgbClr val="FFC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args collects extra positional arguments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into a tuple; kwargs collects extra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keyword arguments into a dict.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03   ·   Functions and Scope   ·   7 / 20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Variadic parameters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1138428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11384280" cy="365760"/>
          </a:xfrm>
          <a:prstGeom prst="rect">
            <a:avLst/>
          </a:prstGeom>
          <a:solidFill>
            <a:srgbClr val="AD7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1116482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def describe(*args, **kwargs):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return len(args), sorted(kwargs)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print(describe(1, 2, 3, unit="cm", colour="red"))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03   ·   Functions and Scope   ·   8 / 20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Variadic parameters  output (1/1)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1138428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1138428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370583"/>
            <a:ext cx="1110996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(3, ['colour', 'unit'])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797296"/>
            <a:ext cx="11109960" cy="42062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03   ·   Functions and Scope   ·   9 / 20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The LEGB rule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FCFA1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690878"/>
            <a:ext cx="1097280" cy="109728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427226"/>
            <a:ext cx="9829800" cy="1624584"/>
          </a:xfrm>
          <a:prstGeom prst="rect">
            <a:avLst/>
          </a:prstGeom>
          <a:solidFill>
            <a:srgbClr val="FFC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Python looks a name up in this order: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Local, Enclosing function, Global,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Built-in.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3675380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4452874"/>
            <a:ext cx="1097280" cy="1097280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4189222"/>
            <a:ext cx="9829800" cy="1624584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Assigning to a name inside a function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makes it local to that function unless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you declare global or nonlocal.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03   ·   Functions and Scope   ·   10 / 20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The LEGB rule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690372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6903720" cy="365760"/>
          </a:xfrm>
          <a:prstGeom prst="rect">
            <a:avLst/>
          </a:prstGeom>
          <a:solidFill>
            <a:srgbClr val="AD7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668426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x = "global"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def outer():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x = "enclosing"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def inner():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    nonlocal x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    x = "changed by inner"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inner()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return x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print(outer())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print(x)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913384"/>
            <a:ext cx="434340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Rectangle 13"/>
          <p:cNvSpPr/>
          <p:nvPr/>
        </p:nvSpPr>
        <p:spPr>
          <a:xfrm>
            <a:off x="7452360" y="913384"/>
            <a:ext cx="434340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71231" y="1352295"/>
            <a:ext cx="411480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changed by inner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global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1" y="5760720"/>
            <a:ext cx="4114800" cy="475488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03   ·   Functions and Scope   ·   11 / 20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The mutable default trap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5414264"/>
          </a:xfrm>
          <a:prstGeom prst="roundRect">
            <a:avLst>
              <a:gd name="adj" fmla="val 10000"/>
            </a:avLst>
          </a:prstGeom>
          <a:solidFill>
            <a:srgbClr val="FFCFA1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3071876"/>
            <a:ext cx="1097280" cy="109728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3054604"/>
            <a:ext cx="9829800" cy="1131823"/>
          </a:xfrm>
          <a:prstGeom prst="rect">
            <a:avLst/>
          </a:prstGeom>
          <a:solidFill>
            <a:srgbClr val="FFC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Default values are evaluated once, when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the def runs, not on each call.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03   ·   Functions and Scope   ·   12 / 20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The mutable default trap  (1/2)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1138428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11384280" cy="365760"/>
          </a:xfrm>
          <a:prstGeom prst="rect">
            <a:avLst/>
          </a:prstGeom>
          <a:solidFill>
            <a:srgbClr val="AD7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1116482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def add_item(item, bucket=[]):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bucket.append(item)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return bucket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print(add_item("a"))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print(add_item("b"))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def add_item_safe(item, bucket=None):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if bucket is None: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    bucket = []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bucket.append(item)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return bucket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print(add_item_safe("a"))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03   ·   Functions and Scope   ·   13 / 20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The mutable default trap  (2/2)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1138428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11384280" cy="365760"/>
          </a:xfrm>
          <a:prstGeom prst="rect">
            <a:avLst/>
          </a:prstGeom>
          <a:solidFill>
            <a:srgbClr val="AD7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1116482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print(add_item_safe("b"))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03   ·   Functions and Scope   ·   14 / 20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The mutable default trap  output (1/1)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1138428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1138428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370583"/>
            <a:ext cx="1110996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['a']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['a', 'b']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['a']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['b']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797296"/>
            <a:ext cx="11109960" cy="42062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03   ·   Functions and Scope   ·   15 / 20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Docstrings and hints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FFCFA1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242388"/>
            <a:ext cx="1073593" cy="1073593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5113" y="1271693"/>
            <a:ext cx="9853486" cy="1014983"/>
          </a:xfrm>
          <a:prstGeom prst="rect">
            <a:avLst/>
          </a:prstGeom>
          <a:solidFill>
            <a:srgbClr val="FFC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PEP 257 describes docstring conventions: 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short summary line, then detail if needed.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275471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3083719"/>
            <a:ext cx="1073593" cy="1073593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5113" y="3300984"/>
            <a:ext cx="9853486" cy="639064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PEP 484 defines the type-hint syntax.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4596045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AEF4D9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Diamond 16"/>
          <p:cNvSpPr/>
          <p:nvPr/>
        </p:nvSpPr>
        <p:spPr>
          <a:xfrm>
            <a:off x="530352" y="4925049"/>
            <a:ext cx="1073593" cy="1073593"/>
          </a:xfrm>
          <a:prstGeom prst="diamond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5113" y="4954354"/>
            <a:ext cx="9853486" cy="1014983"/>
          </a:xfrm>
          <a:prstGeom prst="rect">
            <a:avLst/>
          </a:prstGeom>
          <a:solidFill>
            <a:srgbClr val="AEF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Hints are not enforced at run time; a checker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81C30"/>
                </a:solidFill>
                <a:latin typeface="Calibri"/>
              </a:rPr>
              <a:t>such as mypy or pyright reads them.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03   ·   Functions and Scope   ·   16 / 20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Docstrings and hints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11384280" cy="5414264"/>
          </a:xfrm>
          <a:prstGeom prst="roundRect">
            <a:avLst>
              <a:gd name="adj" fmla="val 8000"/>
            </a:avLst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11384280" cy="365760"/>
          </a:xfrm>
          <a:prstGeom prst="rect">
            <a:avLst/>
          </a:prstGeom>
          <a:solidFill>
            <a:srgbClr val="AD7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C43D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1334008"/>
            <a:ext cx="11164824" cy="4883912"/>
          </a:xfrm>
          <a:prstGeom prst="rect">
            <a:avLst/>
          </a:prstGeom>
          <a:solidFill>
            <a:srgbClr val="16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def celsius_to_fahrenheit(c: float) -&gt; float: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"""Convert degrees Celsius to degrees Fahrenheit."""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   return c * 9 / 5 + 32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ECF2FF"/>
                </a:solidFill>
                <a:latin typeface="Consolas"/>
              </a:rPr>
              <a:t>print(celsius_to_fahrenheit(100))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03   ·   Functions and Scope   ·   17 / 20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Docstrings and hints  output (1/1)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11384280" cy="5414264"/>
          </a:xfrm>
          <a:prstGeom prst="roundRect">
            <a:avLst>
              <a:gd name="adj" fmla="val 8000"/>
            </a:avLst>
          </a:prstGeom>
          <a:solidFill>
            <a:srgbClr val="E2F7E8"/>
          </a:solidFill>
          <a:ln w="19050">
            <a:solidFill>
              <a:srgbClr val="0C4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65760" y="913384"/>
            <a:ext cx="11384280" cy="365760"/>
          </a:xfrm>
          <a:prstGeom prst="rect">
            <a:avLst/>
          </a:prstGeom>
          <a:solidFill>
            <a:srgbClr val="57B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C4624"/>
                </a:solidFill>
                <a:latin typeface="Calibri"/>
              </a:rPr>
              <a:t>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370583"/>
            <a:ext cx="11109960" cy="436270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C4624"/>
                </a:solidFill>
                <a:latin typeface="Consolas"/>
              </a:rPr>
              <a:t>212.0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797296"/>
            <a:ext cx="11109960" cy="420624"/>
          </a:xfrm>
          <a:prstGeom prst="rect">
            <a:avLst/>
          </a:prstGeom>
          <a:solidFill>
            <a:srgbClr val="E2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0C4624"/>
                </a:solidFill>
                <a:latin typeface="Calibri"/>
              </a:rPr>
              <a:t>Printed by CPython 3.12.3. Not invented.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03   ·   Functions and Scope   ·   18 / 20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Check yourself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FFCFA1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242388"/>
            <a:ext cx="1073593" cy="1073593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5113" y="1213273"/>
            <a:ext cx="9853486" cy="1131823"/>
          </a:xfrm>
          <a:prstGeom prst="rect">
            <a:avLst/>
          </a:prstGeom>
          <a:solidFill>
            <a:srgbClr val="FFC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What does area(height=2, width=6)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return?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2754714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3083719"/>
            <a:ext cx="1073593" cy="1073593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5113" y="3300984"/>
            <a:ext cx="9853486" cy="639064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Why does add_item("b") print ['a', 'b']?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4596045"/>
            <a:ext cx="11475720" cy="1731602"/>
          </a:xfrm>
          <a:prstGeom prst="roundRect">
            <a:avLst>
              <a:gd name="adj" fmla="val 10000"/>
            </a:avLst>
          </a:prstGeom>
          <a:solidFill>
            <a:srgbClr val="AEF4D9"/>
          </a:solidFill>
          <a:ln w="19050">
            <a:solidFill>
              <a:srgbClr val="5EE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Diamond 16"/>
          <p:cNvSpPr/>
          <p:nvPr/>
        </p:nvSpPr>
        <p:spPr>
          <a:xfrm>
            <a:off x="530352" y="4925049"/>
            <a:ext cx="1073593" cy="1073593"/>
          </a:xfrm>
          <a:prstGeom prst="diamond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5113" y="4895934"/>
            <a:ext cx="9853486" cy="1131823"/>
          </a:xfrm>
          <a:prstGeom prst="rect">
            <a:avLst/>
          </a:prstGeom>
          <a:solidFill>
            <a:srgbClr val="AEF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Which scope does a name assigned inside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inner belong to without nonlocal?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03   ·   Functions and Scope   ·   19 / 20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Project: Unit converter CLI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913384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FCFA1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Oval 10"/>
          <p:cNvSpPr/>
          <p:nvPr/>
        </p:nvSpPr>
        <p:spPr>
          <a:xfrm>
            <a:off x="530352" y="1690878"/>
            <a:ext cx="1097280" cy="109728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180845"/>
            <a:ext cx="9829800" cy="2117344"/>
          </a:xfrm>
          <a:prstGeom prst="rect">
            <a:avLst/>
          </a:prstGeom>
          <a:solidFill>
            <a:srgbClr val="FFC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Build three pure functions (km to miles,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kg to pounds, Celsius to Fahrenheit),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add docstrings and hints, then write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four pytest tests.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3675380"/>
            <a:ext cx="11475720" cy="2652268"/>
          </a:xfrm>
          <a:prstGeom prst="roundRect">
            <a:avLst>
              <a:gd name="adj" fmla="val 10000"/>
            </a:avLst>
          </a:prstGeom>
          <a:solidFill>
            <a:srgbClr val="FFE19E"/>
          </a:solidFill>
          <a:ln w="19050">
            <a:solidFill>
              <a:srgbClr val="FFC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30352" y="4452874"/>
            <a:ext cx="1097280" cy="1097280"/>
          </a:xfrm>
          <a:prstGeom prst="hexagon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81C30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4681982"/>
            <a:ext cx="9829800" cy="639064"/>
          </a:xfrm>
          <a:prstGeom prst="rect">
            <a:avLst/>
          </a:prstGeom>
          <a:solidFill>
            <a:srgbClr val="FFE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Stretch: accept values with argparse.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7C5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AF0"/>
                </a:solidFill>
                <a:latin typeface="Calibri"/>
              </a:rPr>
              <a:t>Python Lab   ·   Level 03   ·   Functions and Scope   ·   20 / 20</a:t>
            </a:r>
          </a:p>
        </p:txBody>
      </p:sp>
      <p:sp>
        <p:nvSpPr>
          <p:cNvPr id="6" name="Oval 5"/>
          <p:cNvSpPr/>
          <p:nvPr/>
        </p:nvSpPr>
        <p:spPr>
          <a:xfrm>
            <a:off x="11109960" y="6583680"/>
            <a:ext cx="164592" cy="16459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65992" y="6583680"/>
            <a:ext cx="164592" cy="164592"/>
          </a:xfrm>
          <a:prstGeom prst="ellipse">
            <a:avLst/>
          </a:prstGeom>
          <a:solidFill>
            <a:srgbClr val="FFC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2024" y="6583680"/>
            <a:ext cx="164592" cy="164592"/>
          </a:xfrm>
          <a:prstGeom prst="ellipse">
            <a:avLst/>
          </a:prstGeom>
          <a:solidFill>
            <a:srgbClr val="5EE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"/>
            <a:ext cx="11430000" cy="620776"/>
          </a:xfrm>
          <a:prstGeom prst="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181C30"/>
                </a:solidFill>
                <a:latin typeface="Calibri"/>
              </a:rPr>
              <a:t>Sources and licence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913384"/>
            <a:ext cx="11430000" cy="76647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1" name="Hexagon 10"/>
          <p:cNvSpPr/>
          <p:nvPr/>
        </p:nvSpPr>
        <p:spPr>
          <a:xfrm>
            <a:off x="502920" y="1095451"/>
            <a:ext cx="402336" cy="402336"/>
          </a:xfrm>
          <a:prstGeom prst="hexagon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949959"/>
            <a:ext cx="10561320" cy="6933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Python tutorial: More on defining functions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https://docs.python.org/3/tutorial/controlflow.html#defining-functions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771294"/>
            <a:ext cx="11430000" cy="76647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4" name="Hexagon 13"/>
          <p:cNvSpPr/>
          <p:nvPr/>
        </p:nvSpPr>
        <p:spPr>
          <a:xfrm>
            <a:off x="502920" y="1953361"/>
            <a:ext cx="402336" cy="402336"/>
          </a:xfrm>
          <a:prstGeom prst="hexagon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1807870"/>
            <a:ext cx="10561320" cy="6933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PEP 257 Docstring Conventions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https://peps.python.org/pep-0257/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629204"/>
            <a:ext cx="11430000" cy="76647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17" name="Hexagon 16"/>
          <p:cNvSpPr/>
          <p:nvPr/>
        </p:nvSpPr>
        <p:spPr>
          <a:xfrm>
            <a:off x="502920" y="2811271"/>
            <a:ext cx="402336" cy="402336"/>
          </a:xfrm>
          <a:prstGeom prst="hexagon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2665780"/>
            <a:ext cx="10561320" cy="6933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PEP 484 Type Hints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https://peps.python.org/pep-0484/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487115"/>
            <a:ext cx="11430000" cy="76647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20" name="Hexagon 19"/>
          <p:cNvSpPr/>
          <p:nvPr/>
        </p:nvSpPr>
        <p:spPr>
          <a:xfrm>
            <a:off x="502920" y="3669182"/>
            <a:ext cx="402336" cy="402336"/>
          </a:xfrm>
          <a:prstGeom prst="hexagon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3523691"/>
            <a:ext cx="10561320" cy="6933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PEP 8 Style Guide for Python Code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https://peps.python.org/pep-0008/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345025"/>
            <a:ext cx="11430000" cy="76647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</a:p>
        </p:txBody>
      </p:sp>
      <p:sp>
        <p:nvSpPr>
          <p:cNvPr id="23" name="Hexagon 22"/>
          <p:cNvSpPr/>
          <p:nvPr/>
        </p:nvSpPr>
        <p:spPr>
          <a:xfrm>
            <a:off x="502920" y="4527092"/>
            <a:ext cx="402336" cy="402336"/>
          </a:xfrm>
          <a:prstGeom prst="hexagon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81C30"/>
                </a:solidFill>
                <a:latin typeface="Calibri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" y="4381601"/>
            <a:ext cx="10561320" cy="6933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Python reference: Naming and binding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81C30"/>
                </a:solidFill>
                <a:latin typeface="Calibri"/>
              </a:rPr>
              <a:t>https://docs.python.org/3/reference/executionmodel.html#naming-and-binding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184648"/>
            <a:ext cx="11430000" cy="1143000"/>
          </a:xfrm>
          <a:prstGeom prst="roundRect">
            <a:avLst>
              <a:gd name="adj" fmla="val 15000"/>
            </a:avLst>
          </a:prstGeom>
          <a:solidFill>
            <a:srgbClr val="FFE4CA"/>
          </a:solidFill>
          <a:ln w="19050">
            <a:solidFill>
              <a:srgbClr val="7C5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128016" tIns="73152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81C30"/>
                </a:solidFill>
                <a:latin typeface="Calibri"/>
              </a:rPr>
              <a:t>Code © CypherMonkeyLabs, MIT.  Text CC BY-NC-SA 4.0.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81C30"/>
                </a:solidFill>
                <a:latin typeface="Calibri"/>
              </a:rPr>
              <a:t>Educational material, not accredited coursework. No outcome is promised.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81C30"/>
                </a:solidFill>
                <a:latin typeface="Calibri"/>
              </a:rPr>
              <a:t>Python is a trademark of the Python Software Foundation.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 and Scope</dc:title>
  <dc:subject>Python Lab Level 3</dc:subject>
  <dc:creator>CypherMonkeyLabs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
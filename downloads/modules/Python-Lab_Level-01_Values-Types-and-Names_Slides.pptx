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81C30"/>
                </a:solidFill>
                <a:latin typeface="Calibri"/>
              </a:rPr>
              <a:t>Values, Types and Names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10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tip and tax calculator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Name the basic types int, float, str and bool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and check one with type()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Bind a value to a name and explain what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reassignment 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Use f-strings to build readable 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Convert between str and numbers and handle the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common error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1_Values-Types-and-Name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D3F3F8"/>
          </a:solidFill>
          <a:ln w="19050">
            <a:solidFill>
              <a:srgbClr val="2D6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  <p:pic>
        <p:nvPicPr>
          <p:cNvPr id="28" name="cm-brand" descr=".brand-mo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9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2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234567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Name the basic types int, float, str and bool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check one with type()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590165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Bind a value to a name and explain what reassignment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04513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Use f-strings to build readable 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1361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Convert between str and numbers and handle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common error</a:t>
            </a:r>
          </a:p>
        </p:txBody>
      </p:sp>
      <p:pic>
        <p:nvPicPr>
          <p:cNvPr id="25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6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3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Values have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Every value has a type.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type() tells you which.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4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Values have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3B91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print(type(42))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print(type(3.5))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print(type("hi"))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print(type(True))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&lt;class 'int'&gt;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&lt;class 'float'&gt;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&lt;class 'str'&gt;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&lt;class 'bool'&gt;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5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Names point at 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name is a label stuck to a value.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Reassigning moves the label; it does not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change the old value.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6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Names point at 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3B91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total = 10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total = total + 5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print(total)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7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Numbers and arithmetic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/ always gives a float.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// divides and rounds down.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% gives the remainder.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8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Numbers and arithmetic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3B91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print(7 / 2)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print(7 // 2)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print(7 % 2)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print(2 ** 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3.5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9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Strings and f-strings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An f-string puts values into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Format specs control decimals.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10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Strings and f-strings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3B91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name = "Ada"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price = 19.5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print(f"{name} pays {price:.2f}")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print(name.upper(), len(name))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Ada pays 19.50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ADA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11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Converting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input() always returns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Convert it before doing arithmetic.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12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Converting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3B91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text = "12"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print(int(text) + 1)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try: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int("twelve")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except ValueError as err: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print("ValueError:", err)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13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Converting types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ValueError: invalid literal for int() with base 10: 'twelve'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4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5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14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is type(7 / 2)?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After total = 10 and total = total + 5,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total name?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Why must you convert the result of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input() before adding numbers?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15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Project: Tip and tax calculator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5414264"/>
          </a:xfrm>
          <a:prstGeom prst="roundRect">
            <a:avLst>
              <a:gd name="adj" fmla="val 10000"/>
            </a:avLst>
          </a:prstGeom>
          <a:solidFill>
            <a:srgbClr val="A7E8F2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3071876"/>
            <a:ext cx="1097280" cy="1097280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2561844"/>
            <a:ext cx="9829800" cy="2117344"/>
          </a:xfrm>
          <a:prstGeom prst="rect">
            <a:avLst/>
          </a:prstGeom>
          <a:solidFill>
            <a:srgbClr val="A7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Ask for a bill, a tip percent and a tax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percent, convert them, and print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total with two decimals using 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f-string.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2D6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01   ·   Values, Types and Names   ·   16 / 16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D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202690"/>
            <a:ext cx="402336" cy="402336"/>
          </a:xfrm>
          <a:prstGeom prst="hexagon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An informal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https://docs.python.org/3/tutorial/introduction.html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85772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275078"/>
            <a:ext cx="402336" cy="402336"/>
          </a:xfrm>
          <a:prstGeom prst="hexagon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022348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reference: The data model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https://docs.python.org/3/reference/datamodel.html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058160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3347466"/>
            <a:ext cx="402336" cy="402336"/>
          </a:xfrm>
          <a:prstGeom prst="hexagon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094736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Formatted string literals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https://docs.python.org/3/reference/lexical_analysis.html#f-strings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130548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4FD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4419854"/>
            <a:ext cx="402336" cy="402336"/>
          </a:xfrm>
          <a:prstGeom prst="hexagon">
            <a:avLst/>
          </a:prstGeom>
          <a:solidFill>
            <a:srgbClr val="4FD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167124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8 Style Guide for Python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https://peps.python.org/pep-0008/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CDF2F8"/>
          </a:solidFill>
          <a:ln w="19050">
            <a:solidFill>
              <a:srgbClr val="2D6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  <p:pic>
        <p:nvPicPr>
          <p:cNvPr id="2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Values, Types and Names</dc:title>
  <dc:subject>Python Lab Level 1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
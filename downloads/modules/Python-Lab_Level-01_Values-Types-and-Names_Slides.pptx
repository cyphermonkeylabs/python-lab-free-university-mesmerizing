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01   ·   Values, Types and Names   ·   1 / 16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292608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81C30"/>
                </a:solidFill>
                <a:latin typeface="Calibri"/>
              </a:rPr>
              <a:t>LEVEL 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786384"/>
            <a:ext cx="7040880" cy="1097280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181C30"/>
                </a:solidFill>
                <a:latin typeface="Calibri"/>
              </a:rPr>
              <a:t>Values, Types and Names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938528"/>
            <a:ext cx="6949440" cy="9418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FD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About 10 hours  ·  Python 3.8+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Project: A tip and tax calculator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Examples run on CPython 3.12.3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990088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FD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3" name="Rounded Rectangle 12"/>
          <p:cNvSpPr/>
          <p:nvPr/>
        </p:nvSpPr>
        <p:spPr>
          <a:xfrm>
            <a:off x="530352" y="31638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4128" y="3017520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Name the basic types int, float, str and bool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and check one with type()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758184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6" name="Rounded Rectangle 15"/>
          <p:cNvSpPr/>
          <p:nvPr/>
        </p:nvSpPr>
        <p:spPr>
          <a:xfrm>
            <a:off x="530352" y="39319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3785616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Bind a value to a name and explain what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reassignment does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526280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9" name="Rounded Rectangle 18"/>
          <p:cNvSpPr/>
          <p:nvPr/>
        </p:nvSpPr>
        <p:spPr>
          <a:xfrm>
            <a:off x="530352" y="470001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" y="4553712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Use f-strings to build readable 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294376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7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2" name="Rounded Rectangle 21"/>
          <p:cNvSpPr/>
          <p:nvPr/>
        </p:nvSpPr>
        <p:spPr>
          <a:xfrm>
            <a:off x="530352" y="546811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7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" y="5321808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Convert between str and numbers and handle the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common error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411480"/>
            <a:ext cx="4206240" cy="28803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FD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pic>
        <p:nvPicPr>
          <p:cNvPr id="25" name="Picture 24" descr="Python-Lab_Level-01_Values-Types-and-Names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640080"/>
            <a:ext cx="3931920" cy="2212848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7772400" y="2880360"/>
            <a:ext cx="3931920" cy="320040"/>
          </a:xfrm>
          <a:prstGeom prst="rect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81C30"/>
                </a:solidFill>
                <a:latin typeface="Calibri"/>
              </a:rPr>
              <a:t>Cover card for this Level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474720"/>
            <a:ext cx="4206240" cy="2697480"/>
          </a:xfrm>
          <a:prstGeom prst="roundRect">
            <a:avLst>
              <a:gd name="adj" fmla="val 15000"/>
            </a:avLst>
          </a:prstGeom>
          <a:solidFill>
            <a:srgbClr val="D3F3F8"/>
          </a:solidFill>
          <a:ln w="19050">
            <a:solidFill>
              <a:srgbClr val="2D6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How to use these slides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Read a slide, then try the code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in your editor or the lab runner.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Green panels are real output.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Not accredited coursework.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01   ·   Values, Types and Names   ·   2 / 16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56032"/>
            <a:ext cx="11430000" cy="640080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You will be able 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051560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FD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640080" y="1391031"/>
            <a:ext cx="512064" cy="512064"/>
          </a:xfrm>
          <a:prstGeom prst="ellipse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1292840" y="2196846"/>
            <a:ext cx="256032" cy="256032"/>
          </a:xfrm>
          <a:prstGeom prst="downArrow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25880" y="1234567"/>
            <a:ext cx="9692640" cy="824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Name the basic types int, float, str and bool and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check one with type()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407158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5" name="Oval 14"/>
          <p:cNvSpPr/>
          <p:nvPr/>
        </p:nvSpPr>
        <p:spPr>
          <a:xfrm>
            <a:off x="640080" y="2746629"/>
            <a:ext cx="512064" cy="512064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1292840" y="3552444"/>
            <a:ext cx="256032" cy="256032"/>
          </a:xfrm>
          <a:prstGeom prst="downArrow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25880" y="2590165"/>
            <a:ext cx="9692640" cy="824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Bind a value to a name and explain what reassignment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does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762756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9" name="Oval 18"/>
          <p:cNvSpPr/>
          <p:nvPr/>
        </p:nvSpPr>
        <p:spPr>
          <a:xfrm>
            <a:off x="640080" y="4102227"/>
            <a:ext cx="512064" cy="512064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1292840" y="4908042"/>
            <a:ext cx="256032" cy="256032"/>
          </a:xfrm>
          <a:prstGeom prst="downArrow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25880" y="4104513"/>
            <a:ext cx="9692640" cy="5074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Use f-strings to build readable text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118354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7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3" name="Oval 22"/>
          <p:cNvSpPr/>
          <p:nvPr/>
        </p:nvSpPr>
        <p:spPr>
          <a:xfrm>
            <a:off x="640080" y="5457825"/>
            <a:ext cx="512064" cy="512064"/>
          </a:xfrm>
          <a:prstGeom prst="ellipse">
            <a:avLst/>
          </a:prstGeom>
          <a:solidFill>
            <a:srgbClr val="FF7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5880" y="5301361"/>
            <a:ext cx="9692640" cy="824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Convert between str and numbers and handle the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common error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01   ·   Values, Types and Names   ·   3 / 16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Values have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A7E8F2"/>
          </a:solidFill>
          <a:ln w="19050">
            <a:solidFill>
              <a:srgbClr val="4FD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690878"/>
            <a:ext cx="1097280" cy="1097280"/>
          </a:xfrm>
          <a:prstGeom prst="ellipse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919986"/>
            <a:ext cx="9829800" cy="639064"/>
          </a:xfrm>
          <a:prstGeom prst="rect">
            <a:avLst/>
          </a:prstGeom>
          <a:solidFill>
            <a:srgbClr val="A7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Every value has a type.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3675380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4452874"/>
            <a:ext cx="1097280" cy="1097280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681982"/>
            <a:ext cx="9829800" cy="63906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type() tells you which.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01   ·   Values, Types and Names   ·   4 / 16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Values have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690372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6903720" cy="365760"/>
          </a:xfrm>
          <a:prstGeom prst="rect">
            <a:avLst/>
          </a:prstGeom>
          <a:solidFill>
            <a:srgbClr val="3B9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668426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print(type(42))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print(type(3.5))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print(type("hi"))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print(type(True))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13384"/>
            <a:ext cx="434340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7452360" y="913384"/>
            <a:ext cx="434340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1" y="1352295"/>
            <a:ext cx="411480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&lt;class 'int'&gt;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&lt;class 'float'&gt;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&lt;class 'str'&gt;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&lt;class 'bool'&gt;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5760720"/>
            <a:ext cx="4114800" cy="475488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01   ·   Values, Types and Names   ·   5 / 16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Names point at values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A7E8F2"/>
          </a:solidFill>
          <a:ln w="19050">
            <a:solidFill>
              <a:srgbClr val="4FD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690878"/>
            <a:ext cx="1097280" cy="1097280"/>
          </a:xfrm>
          <a:prstGeom prst="ellipse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919986"/>
            <a:ext cx="9829800" cy="639064"/>
          </a:xfrm>
          <a:prstGeom prst="rect">
            <a:avLst/>
          </a:prstGeom>
          <a:solidFill>
            <a:srgbClr val="A7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name is a label stuck to a value.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3675380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4452874"/>
            <a:ext cx="1097280" cy="1097280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435602"/>
            <a:ext cx="9829800" cy="1131823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Reassigning moves the label; it does not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change the old value.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01   ·   Values, Types and Names   ·   6 / 16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Names point at values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690372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6903720" cy="365760"/>
          </a:xfrm>
          <a:prstGeom prst="rect">
            <a:avLst/>
          </a:prstGeom>
          <a:solidFill>
            <a:srgbClr val="3B9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668426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total = 10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total = total + 5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print(total)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13384"/>
            <a:ext cx="434340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7452360" y="913384"/>
            <a:ext cx="434340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1" y="1352295"/>
            <a:ext cx="411480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5760720"/>
            <a:ext cx="4114800" cy="475488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01   ·   Values, Types and Names   ·   7 / 16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Numbers and arithmetic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A7E8F2"/>
          </a:solidFill>
          <a:ln w="19050">
            <a:solidFill>
              <a:srgbClr val="4FD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242388"/>
            <a:ext cx="1073593" cy="1073593"/>
          </a:xfrm>
          <a:prstGeom prst="ellipse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5113" y="1459653"/>
            <a:ext cx="9853486" cy="639064"/>
          </a:xfrm>
          <a:prstGeom prst="rect">
            <a:avLst/>
          </a:prstGeom>
          <a:solidFill>
            <a:srgbClr val="A7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/ always gives a float.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275471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3083719"/>
            <a:ext cx="1073593" cy="1073593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5113" y="3300984"/>
            <a:ext cx="9853486" cy="63906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// divides and rounds down.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4596045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AEF4D9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Diamond 16"/>
          <p:cNvSpPr/>
          <p:nvPr/>
        </p:nvSpPr>
        <p:spPr>
          <a:xfrm>
            <a:off x="530352" y="4925049"/>
            <a:ext cx="1073593" cy="1073593"/>
          </a:xfrm>
          <a:prstGeom prst="diamond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5113" y="5142314"/>
            <a:ext cx="9853486" cy="639064"/>
          </a:xfrm>
          <a:prstGeom prst="rect">
            <a:avLst/>
          </a:prstGeom>
          <a:solidFill>
            <a:srgbClr val="AEF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% gives the remainder.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01   ·   Values, Types and Names   ·   8 / 16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Numbers and arithmetic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690372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6903720" cy="365760"/>
          </a:xfrm>
          <a:prstGeom prst="rect">
            <a:avLst/>
          </a:prstGeom>
          <a:solidFill>
            <a:srgbClr val="3B9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668426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print(7 / 2)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print(7 // 2)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print(7 % 2)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print(2 ** 10)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13384"/>
            <a:ext cx="434340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7452360" y="913384"/>
            <a:ext cx="434340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1" y="1352295"/>
            <a:ext cx="411480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3.5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1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1024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5760720"/>
            <a:ext cx="4114800" cy="475488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01   ·   Values, Types and Names   ·   9 / 16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Strings and f-strings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A7E8F2"/>
          </a:solidFill>
          <a:ln w="19050">
            <a:solidFill>
              <a:srgbClr val="4FD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690878"/>
            <a:ext cx="1097280" cy="1097280"/>
          </a:xfrm>
          <a:prstGeom prst="ellipse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919986"/>
            <a:ext cx="9829800" cy="639064"/>
          </a:xfrm>
          <a:prstGeom prst="rect">
            <a:avLst/>
          </a:prstGeom>
          <a:solidFill>
            <a:srgbClr val="A7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An f-string puts values into 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3675380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4452874"/>
            <a:ext cx="1097280" cy="1097280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681982"/>
            <a:ext cx="9829800" cy="63906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Format specs control decimals.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01   ·   Values, Types and Names   ·   10 / 16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Strings and f-strings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690372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6903720" cy="365760"/>
          </a:xfrm>
          <a:prstGeom prst="rect">
            <a:avLst/>
          </a:prstGeom>
          <a:solidFill>
            <a:srgbClr val="3B9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668426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name = "Ada"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price = 19.5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print(f"{name} pays {price:.2f}")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print(name.upper(), len(name))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13384"/>
            <a:ext cx="434340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7452360" y="913384"/>
            <a:ext cx="434340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1" y="1352295"/>
            <a:ext cx="411480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Ada pays 19.50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ADA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5760720"/>
            <a:ext cx="4114800" cy="475488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01   ·   Values, Types and Names   ·   11 / 16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Converting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A7E8F2"/>
          </a:solidFill>
          <a:ln w="19050">
            <a:solidFill>
              <a:srgbClr val="4FD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690878"/>
            <a:ext cx="1097280" cy="1097280"/>
          </a:xfrm>
          <a:prstGeom prst="ellipse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919986"/>
            <a:ext cx="9829800" cy="639064"/>
          </a:xfrm>
          <a:prstGeom prst="rect">
            <a:avLst/>
          </a:prstGeom>
          <a:solidFill>
            <a:srgbClr val="A7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input() always returns 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3675380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4452874"/>
            <a:ext cx="1097280" cy="1097280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681982"/>
            <a:ext cx="9829800" cy="63906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Convert it before doing arithmetic.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01   ·   Values, Types and Names   ·   12 / 16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Converting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38428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11384280" cy="365760"/>
          </a:xfrm>
          <a:prstGeom prst="rect">
            <a:avLst/>
          </a:prstGeom>
          <a:solidFill>
            <a:srgbClr val="3B9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1116482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text = "12"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print(int(text) + 1)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try: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int("twelve")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except ValueError as err: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print("ValueError:", err)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01   ·   Values, Types and Names   ·   13 / 16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Converting types  output (1/1)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38428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1138428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370583"/>
            <a:ext cx="1110996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13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ValueError: invalid literal for int() with base 10: 'twelve'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797296"/>
            <a:ext cx="11109960" cy="42062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01   ·   Values, Types and Names   ·   14 / 16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Check yourself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A7E8F2"/>
          </a:solidFill>
          <a:ln w="19050">
            <a:solidFill>
              <a:srgbClr val="4FD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242388"/>
            <a:ext cx="1073593" cy="1073593"/>
          </a:xfrm>
          <a:prstGeom prst="ellipse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5113" y="1459653"/>
            <a:ext cx="9853486" cy="639064"/>
          </a:xfrm>
          <a:prstGeom prst="rect">
            <a:avLst/>
          </a:prstGeom>
          <a:solidFill>
            <a:srgbClr val="A7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What is type(7 / 2)?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275471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3083719"/>
            <a:ext cx="1073593" cy="1073593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5113" y="3054604"/>
            <a:ext cx="9853486" cy="1131823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After total = 10 and total = total + 5,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what does total name?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4596045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AEF4D9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Diamond 16"/>
          <p:cNvSpPr/>
          <p:nvPr/>
        </p:nvSpPr>
        <p:spPr>
          <a:xfrm>
            <a:off x="530352" y="4925049"/>
            <a:ext cx="1073593" cy="1073593"/>
          </a:xfrm>
          <a:prstGeom prst="diamond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5113" y="4895934"/>
            <a:ext cx="9853486" cy="1131823"/>
          </a:xfrm>
          <a:prstGeom prst="rect">
            <a:avLst/>
          </a:prstGeom>
          <a:solidFill>
            <a:srgbClr val="AEF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Why must you convert the result of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input() before adding numbers?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01   ·   Values, Types and Names   ·   15 / 16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Project: Tip and tax calculator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5414264"/>
          </a:xfrm>
          <a:prstGeom prst="roundRect">
            <a:avLst>
              <a:gd name="adj" fmla="val 10000"/>
            </a:avLst>
          </a:prstGeom>
          <a:solidFill>
            <a:srgbClr val="A7E8F2"/>
          </a:solidFill>
          <a:ln w="19050">
            <a:solidFill>
              <a:srgbClr val="4FD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3071876"/>
            <a:ext cx="1097280" cy="1097280"/>
          </a:xfrm>
          <a:prstGeom prst="ellipse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2561844"/>
            <a:ext cx="9829800" cy="2117344"/>
          </a:xfrm>
          <a:prstGeom prst="rect">
            <a:avLst/>
          </a:prstGeom>
          <a:solidFill>
            <a:srgbClr val="A7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Ask for a bill, a tip percent and a tax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percent, convert them, and print the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total with two decimals using an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f-string.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D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01   ·   Values, Types and Names   ·   16 / 16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ED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Sources and licence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430000" cy="9809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FD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Hexagon 10"/>
          <p:cNvSpPr/>
          <p:nvPr/>
        </p:nvSpPr>
        <p:spPr>
          <a:xfrm>
            <a:off x="502920" y="1202690"/>
            <a:ext cx="402336" cy="402336"/>
          </a:xfrm>
          <a:prstGeom prst="hexagon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949959"/>
            <a:ext cx="10561320" cy="9077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Python tutorial: An informal introduction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https://docs.python.org/3/tutorial/introduction.html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985772"/>
            <a:ext cx="11430000" cy="9809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FD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02920" y="2275078"/>
            <a:ext cx="402336" cy="402336"/>
          </a:xfrm>
          <a:prstGeom prst="hexagon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2022348"/>
            <a:ext cx="10561320" cy="9077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Python reference: The data model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https://docs.python.org/3/reference/datamodel.html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058160"/>
            <a:ext cx="11430000" cy="9809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FD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Hexagon 16"/>
          <p:cNvSpPr/>
          <p:nvPr/>
        </p:nvSpPr>
        <p:spPr>
          <a:xfrm>
            <a:off x="502920" y="3347466"/>
            <a:ext cx="402336" cy="402336"/>
          </a:xfrm>
          <a:prstGeom prst="hexagon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3094736"/>
            <a:ext cx="10561320" cy="9077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Python docs: Formatted string literals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https://docs.python.org/3/reference/lexical_analysis.html#f-strings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130548"/>
            <a:ext cx="11430000" cy="9809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FD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0" name="Hexagon 19"/>
          <p:cNvSpPr/>
          <p:nvPr/>
        </p:nvSpPr>
        <p:spPr>
          <a:xfrm>
            <a:off x="502920" y="4419854"/>
            <a:ext cx="402336" cy="402336"/>
          </a:xfrm>
          <a:prstGeom prst="hexagon">
            <a:avLst/>
          </a:prstGeom>
          <a:solidFill>
            <a:srgbClr val="4FD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4167124"/>
            <a:ext cx="10561320" cy="9077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PEP 8 Style Guide for Python Code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https://peps.python.org/pep-0008/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184648"/>
            <a:ext cx="11430000" cy="1143000"/>
          </a:xfrm>
          <a:prstGeom prst="roundRect">
            <a:avLst>
              <a:gd name="adj" fmla="val 15000"/>
            </a:avLst>
          </a:prstGeom>
          <a:solidFill>
            <a:srgbClr val="CDF2F8"/>
          </a:solidFill>
          <a:ln w="19050">
            <a:solidFill>
              <a:srgbClr val="2D6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Code © CypherMonkeyLabs, MIT.  Text CC BY-NC-SA 4.0.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Educational material, not accredited coursework. No outcome is promised.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Python is a trademark of the Python Software Foundation.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Values, Types and Names</dc:title>
  <dc:subject>Python Lab Level 1</dc:subject>
  <dc:creator>CypherMonkeyLabs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
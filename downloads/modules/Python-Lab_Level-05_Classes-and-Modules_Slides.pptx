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C3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7C3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AF0"/>
                </a:solidFill>
                <a:latin typeface="Calibri"/>
              </a:rPr>
              <a:t>Python Lab   ·   Level 05   ·   Classes and Modules   ·   1 / 11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6583680"/>
            <a:ext cx="164592" cy="164592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583680"/>
            <a:ext cx="164592" cy="164592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22024" y="6583680"/>
            <a:ext cx="164592" cy="164592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11480" y="292608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81C30"/>
                </a:solidFill>
                <a:latin typeface="Calibri"/>
              </a:rPr>
              <a:t>LEVEL 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786384"/>
            <a:ext cx="7040880" cy="1097280"/>
          </a:xfrm>
          <a:prstGeom prst="rect">
            <a:avLst/>
          </a:prstGeom>
          <a:solidFill>
            <a:srgbClr val="FF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181C30"/>
                </a:solidFill>
                <a:latin typeface="Calibri"/>
              </a:rPr>
              <a:t>Classes and Modules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1938528"/>
            <a:ext cx="6949440" cy="9418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About 35 hours  ·  Python 3.8+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Project: A Note class plus a one-line import check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Examples run on CPython 3.12.3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2990088"/>
            <a:ext cx="6949440" cy="7132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3" name="Rounded Rectangle 12"/>
          <p:cNvSpPr/>
          <p:nvPr/>
        </p:nvSpPr>
        <p:spPr>
          <a:xfrm>
            <a:off x="530352" y="3163824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81C30"/>
                </a:solidFill>
                <a:latin typeface="Calibri"/>
              </a:rPr>
              <a:t>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24128" y="3017520"/>
            <a:ext cx="61722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181C30"/>
                </a:solidFill>
                <a:latin typeface="Calibri"/>
              </a:rPr>
              <a:t>Define a class with an __init__ method and read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181C30"/>
                </a:solidFill>
                <a:latin typeface="Calibri"/>
              </a:rPr>
              <a:t>an attribute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3758184"/>
            <a:ext cx="6949440" cy="7132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FFC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6" name="Rounded Rectangle 15"/>
          <p:cNvSpPr/>
          <p:nvPr/>
        </p:nvSpPr>
        <p:spPr>
          <a:xfrm>
            <a:off x="530352" y="393192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81C30"/>
                </a:solidFill>
                <a:latin typeface="Calibri"/>
              </a:rPr>
              <a:t>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3785616"/>
            <a:ext cx="61722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181C30"/>
                </a:solidFill>
                <a:latin typeface="Calibri"/>
              </a:rPr>
              <a:t>Build one instance and call a method on it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4526280"/>
            <a:ext cx="6949440" cy="7132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5EE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9" name="Rounded Rectangle 18"/>
          <p:cNvSpPr/>
          <p:nvPr/>
        </p:nvSpPr>
        <p:spPr>
          <a:xfrm>
            <a:off x="530352" y="4700016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81C30"/>
                </a:solidFill>
                <a:latin typeface="Calibri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24128" y="4553712"/>
            <a:ext cx="61722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181C30"/>
                </a:solidFill>
                <a:latin typeface="Calibri"/>
              </a:rPr>
              <a:t>Explain that import runs a module once and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181C30"/>
                </a:solidFill>
                <a:latin typeface="Calibri"/>
              </a:rPr>
              <a:t>stores it on sys.modules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5294376"/>
            <a:ext cx="6949440" cy="7132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FF7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22" name="Rounded Rectangle 21"/>
          <p:cNvSpPr/>
          <p:nvPr/>
        </p:nvSpPr>
        <p:spPr>
          <a:xfrm>
            <a:off x="530352" y="5468112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7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81C30"/>
                </a:solidFill>
                <a:latin typeface="Calibri"/>
              </a:rPr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24128" y="5321808"/>
            <a:ext cx="61722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181C30"/>
                </a:solidFill>
                <a:latin typeface="Calibri"/>
              </a:rPr>
              <a:t>Say what a virtual environment isolates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35240" y="411480"/>
            <a:ext cx="4206240" cy="28803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pic>
        <p:nvPicPr>
          <p:cNvPr id="25" name="Picture 24" descr="Python-Lab_Level-05_Classes-and-Modules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640080"/>
            <a:ext cx="3931920" cy="2212848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7772400" y="2880360"/>
            <a:ext cx="3931920" cy="32004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81C30"/>
                </a:solidFill>
                <a:latin typeface="Calibri"/>
              </a:rPr>
              <a:t>Cover card for this Level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35240" y="3474720"/>
            <a:ext cx="4206240" cy="2697480"/>
          </a:xfrm>
          <a:prstGeom prst="roundRect">
            <a:avLst>
              <a:gd name="adj" fmla="val 15000"/>
            </a:avLst>
          </a:prstGeom>
          <a:solidFill>
            <a:srgbClr val="FFDADA"/>
          </a:solidFill>
          <a:ln w="19050">
            <a:solidFill>
              <a:srgbClr val="7C3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How to use these slides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Read a slide, then try the code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in your editor or the lab runner.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Green panels are real output.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Not accredited coursework.</a:t>
            </a:r>
          </a:p>
        </p:txBody>
      </p:sp>
      <p:pic>
        <p:nvPicPr>
          <p:cNvPr id="28" name="cm-brand" descr=".brand-monke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525" y="6343650"/>
            <a:ext cx="341367" cy="341367"/>
          </a:xfrm>
          <a:prstGeom prst="rect">
            <a:avLst/>
          </a:prstGeom>
        </p:spPr>
      </p:pic>
      <p:sp>
        <p:nvSpPr>
          <p:cNvPr id="29" name="cm-brand-text"/>
          <p:cNvSpPr txBox="1"/>
          <p:nvPr/>
        </p:nvSpPr>
        <p:spPr>
          <a:xfrm>
            <a:off x="8290352" y="6377940"/>
            <a:ext cx="25602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AF0"/>
                </a:solidFill>
              </a:rPr>
              <a:t>cyphermonkeylabs.com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C3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7C3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AF0"/>
                </a:solidFill>
                <a:latin typeface="Calibri"/>
              </a:rPr>
              <a:t>Python Lab   ·   Level 05   ·   Classes and Modules   ·   2 / 11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6583680"/>
            <a:ext cx="164592" cy="164592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583680"/>
            <a:ext cx="164592" cy="164592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22024" y="6583680"/>
            <a:ext cx="164592" cy="164592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256032"/>
            <a:ext cx="11430000" cy="640080"/>
          </a:xfrm>
          <a:prstGeom prst="rect">
            <a:avLst/>
          </a:prstGeom>
          <a:solidFill>
            <a:srgbClr val="FF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You will be able to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051560"/>
            <a:ext cx="11338560" cy="119100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1" name="Oval 10"/>
          <p:cNvSpPr/>
          <p:nvPr/>
        </p:nvSpPr>
        <p:spPr>
          <a:xfrm>
            <a:off x="640080" y="1391031"/>
            <a:ext cx="512064" cy="512064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81C30"/>
                </a:solidFill>
                <a:latin typeface="Calibri"/>
              </a:rPr>
              <a:t>1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11292840" y="2196846"/>
            <a:ext cx="256032" cy="256032"/>
          </a:xfrm>
          <a:prstGeom prst="downArrow">
            <a:avLst/>
          </a:prstGeom>
          <a:solidFill>
            <a:srgbClr val="7C3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325880" y="1234567"/>
            <a:ext cx="9692640" cy="8249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181C30"/>
                </a:solidFill>
                <a:latin typeface="Calibri"/>
              </a:rPr>
              <a:t>Define a class with an __init__ method and read an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181C30"/>
                </a:solidFill>
                <a:latin typeface="Calibri"/>
              </a:rPr>
              <a:t>attribute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2407158"/>
            <a:ext cx="11338560" cy="119100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FFC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5" name="Oval 14"/>
          <p:cNvSpPr/>
          <p:nvPr/>
        </p:nvSpPr>
        <p:spPr>
          <a:xfrm>
            <a:off x="640080" y="2746629"/>
            <a:ext cx="512064" cy="512064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81C30"/>
                </a:solidFill>
                <a:latin typeface="Calibri"/>
              </a:rPr>
              <a:t>2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11292840" y="3552444"/>
            <a:ext cx="256032" cy="256032"/>
          </a:xfrm>
          <a:prstGeom prst="downArrow">
            <a:avLst/>
          </a:prstGeom>
          <a:solidFill>
            <a:srgbClr val="7C3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325880" y="2748914"/>
            <a:ext cx="9692640" cy="5074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181C30"/>
                </a:solidFill>
                <a:latin typeface="Calibri"/>
              </a:rPr>
              <a:t>Build one instance and call a method on it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3762756"/>
            <a:ext cx="11338560" cy="119100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5EE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9" name="Oval 18"/>
          <p:cNvSpPr/>
          <p:nvPr/>
        </p:nvSpPr>
        <p:spPr>
          <a:xfrm>
            <a:off x="640080" y="4102227"/>
            <a:ext cx="512064" cy="512064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81C30"/>
                </a:solidFill>
                <a:latin typeface="Calibri"/>
              </a:rPr>
              <a:t>3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11292840" y="4908042"/>
            <a:ext cx="256032" cy="256032"/>
          </a:xfrm>
          <a:prstGeom prst="downArrow">
            <a:avLst/>
          </a:prstGeom>
          <a:solidFill>
            <a:srgbClr val="7C3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25880" y="3945763"/>
            <a:ext cx="9692640" cy="8249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181C30"/>
                </a:solidFill>
                <a:latin typeface="Calibri"/>
              </a:rPr>
              <a:t>Explain that import runs a module once and stores it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181C30"/>
                </a:solidFill>
                <a:latin typeface="Calibri"/>
              </a:rPr>
              <a:t>on sys.modules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5118354"/>
            <a:ext cx="11338560" cy="119100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FF7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23" name="Oval 22"/>
          <p:cNvSpPr/>
          <p:nvPr/>
        </p:nvSpPr>
        <p:spPr>
          <a:xfrm>
            <a:off x="640080" y="5457825"/>
            <a:ext cx="512064" cy="512064"/>
          </a:xfrm>
          <a:prstGeom prst="ellipse">
            <a:avLst/>
          </a:prstGeom>
          <a:solidFill>
            <a:srgbClr val="FF7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81C30"/>
                </a:solidFill>
                <a:latin typeface="Calibri"/>
              </a:rPr>
              <a:t>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25880" y="5460111"/>
            <a:ext cx="9692640" cy="5074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181C30"/>
                </a:solidFill>
                <a:latin typeface="Calibri"/>
              </a:rPr>
              <a:t>Say what a virtual environment isolates</a:t>
            </a:r>
          </a:p>
        </p:txBody>
      </p:sp>
      <p:pic>
        <p:nvPicPr>
          <p:cNvPr id="25" name="cm-brand" descr=".brand-monk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525" y="6343650"/>
            <a:ext cx="341367" cy="341367"/>
          </a:xfrm>
          <a:prstGeom prst="rect">
            <a:avLst/>
          </a:prstGeom>
        </p:spPr>
      </p:pic>
      <p:sp>
        <p:nvSpPr>
          <p:cNvPr id="26" name="cm-brand-text"/>
          <p:cNvSpPr txBox="1"/>
          <p:nvPr/>
        </p:nvSpPr>
        <p:spPr>
          <a:xfrm>
            <a:off x="8290352" y="6377940"/>
            <a:ext cx="25602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AF0"/>
                </a:solidFill>
              </a:rPr>
              <a:t>cyphermonkeylabs.com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C3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7C3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AF0"/>
                </a:solidFill>
                <a:latin typeface="Calibri"/>
              </a:rPr>
              <a:t>Python Lab   ·   Level 05   ·   Classes and Modules   ·   3 / 11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6583680"/>
            <a:ext cx="164592" cy="164592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583680"/>
            <a:ext cx="164592" cy="164592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22024" y="6583680"/>
            <a:ext cx="164592" cy="164592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2880"/>
            <a:ext cx="11430000" cy="620776"/>
          </a:xfrm>
          <a:prstGeom prst="rect">
            <a:avLst/>
          </a:prstGeom>
          <a:solidFill>
            <a:srgbClr val="FF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A class bundles data and methods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913384"/>
            <a:ext cx="11475720" cy="1731602"/>
          </a:xfrm>
          <a:prstGeom prst="roundRect">
            <a:avLst>
              <a:gd name="adj" fmla="val 10000"/>
            </a:avLst>
          </a:prstGeom>
          <a:solidFill>
            <a:srgbClr val="FFB5B5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1" name="Oval 10"/>
          <p:cNvSpPr/>
          <p:nvPr/>
        </p:nvSpPr>
        <p:spPr>
          <a:xfrm>
            <a:off x="530352" y="1242388"/>
            <a:ext cx="1073593" cy="1073593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81C30"/>
                </a:solidFill>
                <a:latin typeface="Calibri"/>
              </a:rPr>
              <a:t>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05113" y="1271693"/>
            <a:ext cx="9853486" cy="1014983"/>
          </a:xfrm>
          <a:prstGeom prst="rect">
            <a:avLst/>
          </a:prstGeom>
          <a:solidFill>
            <a:srgbClr val="FFB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181C30"/>
                </a:solidFill>
                <a:latin typeface="Calibri"/>
              </a:rPr>
              <a:t>The tutorial describes a class as a way to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181C30"/>
                </a:solidFill>
                <a:latin typeface="Calibri"/>
              </a:rPr>
              <a:t>bundle data and the operations on that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" y="2754714"/>
            <a:ext cx="11475720" cy="1731602"/>
          </a:xfrm>
          <a:prstGeom prst="roundRect">
            <a:avLst>
              <a:gd name="adj" fmla="val 10000"/>
            </a:avLst>
          </a:prstGeom>
          <a:solidFill>
            <a:srgbClr val="FFE19E"/>
          </a:solidFill>
          <a:ln w="19050">
            <a:solidFill>
              <a:srgbClr val="FFC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4" name="Hexagon 13"/>
          <p:cNvSpPr/>
          <p:nvPr/>
        </p:nvSpPr>
        <p:spPr>
          <a:xfrm>
            <a:off x="530352" y="3083719"/>
            <a:ext cx="1073593" cy="1073593"/>
          </a:xfrm>
          <a:prstGeom prst="hexagon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81C30"/>
                </a:solidFill>
                <a:latin typeface="Calibri"/>
              </a:rPr>
              <a:t>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05113" y="3300984"/>
            <a:ext cx="9853486" cy="639064"/>
          </a:xfrm>
          <a:prstGeom prst="rect">
            <a:avLst/>
          </a:prstGeom>
          <a:solidFill>
            <a:srgbClr val="FFE1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__init__ runs when you call the class.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7472" y="4596045"/>
            <a:ext cx="11475720" cy="1731602"/>
          </a:xfrm>
          <a:prstGeom prst="roundRect">
            <a:avLst>
              <a:gd name="adj" fmla="val 10000"/>
            </a:avLst>
          </a:prstGeom>
          <a:solidFill>
            <a:srgbClr val="AEF4D9"/>
          </a:solidFill>
          <a:ln w="19050">
            <a:solidFill>
              <a:srgbClr val="5EE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7" name="Diamond 16"/>
          <p:cNvSpPr/>
          <p:nvPr/>
        </p:nvSpPr>
        <p:spPr>
          <a:xfrm>
            <a:off x="530352" y="4925049"/>
            <a:ext cx="1073593" cy="1073593"/>
          </a:xfrm>
          <a:prstGeom prst="diamond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81C30"/>
                </a:solidFill>
                <a:latin typeface="Calibri"/>
              </a:rPr>
              <a:t>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05113" y="5142314"/>
            <a:ext cx="9853486" cy="639064"/>
          </a:xfrm>
          <a:prstGeom prst="rect">
            <a:avLst/>
          </a:prstGeom>
          <a:solidFill>
            <a:srgbClr val="AEF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self is the instance.</a:t>
            </a:r>
          </a:p>
        </p:txBody>
      </p:sp>
      <p:pic>
        <p:nvPicPr>
          <p:cNvPr id="19" name="cm-brand" descr=".brand-monk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525" y="6343650"/>
            <a:ext cx="341367" cy="341367"/>
          </a:xfrm>
          <a:prstGeom prst="rect">
            <a:avLst/>
          </a:prstGeom>
        </p:spPr>
      </p:pic>
      <p:sp>
        <p:nvSpPr>
          <p:cNvPr id="20" name="cm-brand-text"/>
          <p:cNvSpPr txBox="1"/>
          <p:nvPr/>
        </p:nvSpPr>
        <p:spPr>
          <a:xfrm>
            <a:off x="8290352" y="6377940"/>
            <a:ext cx="25602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AF0"/>
                </a:solidFill>
              </a:rPr>
              <a:t>cyphermonkeylabs.com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C3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7C3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AF0"/>
                </a:solidFill>
                <a:latin typeface="Calibri"/>
              </a:rPr>
              <a:t>Python Lab   ·   Level 05   ·   Classes and Modules   ·   4 / 11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6583680"/>
            <a:ext cx="164592" cy="164592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583680"/>
            <a:ext cx="164592" cy="164592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22024" y="6583680"/>
            <a:ext cx="164592" cy="164592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2880"/>
            <a:ext cx="11430000" cy="620776"/>
          </a:xfrm>
          <a:prstGeom prst="rect">
            <a:avLst/>
          </a:prstGeom>
          <a:solidFill>
            <a:srgbClr val="FF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A class bundles data and methods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913384"/>
            <a:ext cx="6903720" cy="5414264"/>
          </a:xfrm>
          <a:prstGeom prst="roundRect">
            <a:avLst>
              <a:gd name="adj" fmla="val 8000"/>
            </a:avLst>
          </a:prstGeom>
          <a:solidFill>
            <a:srgbClr val="16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1" name="Rectangle 10"/>
          <p:cNvSpPr/>
          <p:nvPr/>
        </p:nvSpPr>
        <p:spPr>
          <a:xfrm>
            <a:off x="365760" y="913384"/>
            <a:ext cx="6903720" cy="365760"/>
          </a:xfrm>
          <a:prstGeom prst="rect">
            <a:avLst/>
          </a:prstGeom>
          <a:solidFill>
            <a:srgbClr val="AD4F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C43D"/>
                </a:solidFill>
                <a:latin typeface="Calibri"/>
              </a:rPr>
              <a:t>Python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" y="1334008"/>
            <a:ext cx="6684264" cy="4883912"/>
          </a:xfrm>
          <a:prstGeom prst="rect">
            <a:avLst/>
          </a:prstGeom>
          <a:solidFill>
            <a:srgbClr val="16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class Note: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    def __init__(self, text):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        self.text = text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    def shout(self):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        return self.text.upper()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note = Note("hello")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print(note.text)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print(note.shout())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0" y="913384"/>
            <a:ext cx="4343400" cy="5414264"/>
          </a:xfrm>
          <a:prstGeom prst="roundRect">
            <a:avLst>
              <a:gd name="adj" fmla="val 8000"/>
            </a:avLst>
          </a:prstGeom>
          <a:solidFill>
            <a:srgbClr val="E2F7E8"/>
          </a:solidFill>
          <a:ln w="19050">
            <a:solidFill>
              <a:srgbClr val="0C46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4" name="Rectangle 13"/>
          <p:cNvSpPr/>
          <p:nvPr/>
        </p:nvSpPr>
        <p:spPr>
          <a:xfrm>
            <a:off x="7452360" y="913384"/>
            <a:ext cx="4343400" cy="365760"/>
          </a:xfrm>
          <a:prstGeom prst="rect">
            <a:avLst/>
          </a:prstGeom>
          <a:solidFill>
            <a:srgbClr val="57B3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C4624"/>
                </a:solidFill>
                <a:latin typeface="Calibri"/>
              </a:rPr>
              <a:t>Output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71231" y="1352295"/>
            <a:ext cx="4114800" cy="4362704"/>
          </a:xfrm>
          <a:prstGeom prst="rect">
            <a:avLst/>
          </a:prstGeom>
          <a:solidFill>
            <a:srgbClr val="E2F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0C4624"/>
                </a:solidFill>
                <a:latin typeface="Consolas"/>
              </a:rPr>
              <a:t>hello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0C4624"/>
                </a:solidFill>
                <a:latin typeface="Consolas"/>
              </a:rPr>
              <a:t>HELLO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71231" y="5760720"/>
            <a:ext cx="4114800" cy="475488"/>
          </a:xfrm>
          <a:prstGeom prst="rect">
            <a:avLst/>
          </a:prstGeom>
          <a:solidFill>
            <a:srgbClr val="E2F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C4624"/>
                </a:solidFill>
                <a:latin typeface="Calibri"/>
              </a:rPr>
              <a:t>Printed by CPython 3.12.3. Not invented.</a:t>
            </a:r>
          </a:p>
        </p:txBody>
      </p:sp>
      <p:pic>
        <p:nvPicPr>
          <p:cNvPr id="17" name="cm-brand" descr=".brand-monk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525" y="6343650"/>
            <a:ext cx="341367" cy="341367"/>
          </a:xfrm>
          <a:prstGeom prst="rect">
            <a:avLst/>
          </a:prstGeom>
        </p:spPr>
      </p:pic>
      <p:sp>
        <p:nvSpPr>
          <p:cNvPr id="18" name="cm-brand-text"/>
          <p:cNvSpPr txBox="1"/>
          <p:nvPr/>
        </p:nvSpPr>
        <p:spPr>
          <a:xfrm>
            <a:off x="8290352" y="6377940"/>
            <a:ext cx="25602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AF0"/>
                </a:solidFill>
              </a:rPr>
              <a:t>cyphermonkeylabs.com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C3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7C3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AF0"/>
                </a:solidFill>
                <a:latin typeface="Calibri"/>
              </a:rPr>
              <a:t>Python Lab   ·   Level 05   ·   Classes and Modules   ·   5 / 11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6583680"/>
            <a:ext cx="164592" cy="164592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583680"/>
            <a:ext cx="164592" cy="164592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22024" y="6583680"/>
            <a:ext cx="164592" cy="164592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2880"/>
            <a:ext cx="11430000" cy="620776"/>
          </a:xfrm>
          <a:prstGeom prst="rect">
            <a:avLst/>
          </a:prstGeom>
          <a:solidFill>
            <a:srgbClr val="FF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import runs the module once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913384"/>
            <a:ext cx="11475720" cy="1731602"/>
          </a:xfrm>
          <a:prstGeom prst="roundRect">
            <a:avLst>
              <a:gd name="adj" fmla="val 10000"/>
            </a:avLst>
          </a:prstGeom>
          <a:solidFill>
            <a:srgbClr val="FFB5B5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1" name="Oval 10"/>
          <p:cNvSpPr/>
          <p:nvPr/>
        </p:nvSpPr>
        <p:spPr>
          <a:xfrm>
            <a:off x="530352" y="1242388"/>
            <a:ext cx="1073593" cy="1073593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81C30"/>
                </a:solidFill>
                <a:latin typeface="Calibri"/>
              </a:rPr>
              <a:t>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05113" y="1213273"/>
            <a:ext cx="9853486" cy="1131823"/>
          </a:xfrm>
          <a:prstGeom prst="rect">
            <a:avLst/>
          </a:prstGeom>
          <a:solidFill>
            <a:srgbClr val="FFB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import executes a module and keeps the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module object in sys.modules.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" y="2754714"/>
            <a:ext cx="11475720" cy="1731602"/>
          </a:xfrm>
          <a:prstGeom prst="roundRect">
            <a:avLst>
              <a:gd name="adj" fmla="val 10000"/>
            </a:avLst>
          </a:prstGeom>
          <a:solidFill>
            <a:srgbClr val="FFE19E"/>
          </a:solidFill>
          <a:ln w="19050">
            <a:solidFill>
              <a:srgbClr val="FFC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4" name="Hexagon 13"/>
          <p:cNvSpPr/>
          <p:nvPr/>
        </p:nvSpPr>
        <p:spPr>
          <a:xfrm>
            <a:off x="530352" y="3083719"/>
            <a:ext cx="1073593" cy="1073593"/>
          </a:xfrm>
          <a:prstGeom prst="hexagon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81C30"/>
                </a:solidFill>
                <a:latin typeface="Calibri"/>
              </a:rPr>
              <a:t>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05113" y="3054604"/>
            <a:ext cx="9853486" cy="1131823"/>
          </a:xfrm>
          <a:prstGeom prst="rect">
            <a:avLst/>
          </a:prstGeom>
          <a:solidFill>
            <a:srgbClr val="FFE1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Importing again returns that same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object.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7472" y="4596045"/>
            <a:ext cx="11475720" cy="1731602"/>
          </a:xfrm>
          <a:prstGeom prst="roundRect">
            <a:avLst>
              <a:gd name="adj" fmla="val 10000"/>
            </a:avLst>
          </a:prstGeom>
          <a:solidFill>
            <a:srgbClr val="AEF4D9"/>
          </a:solidFill>
          <a:ln w="19050">
            <a:solidFill>
              <a:srgbClr val="5EE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7" name="Diamond 16"/>
          <p:cNvSpPr/>
          <p:nvPr/>
        </p:nvSpPr>
        <p:spPr>
          <a:xfrm>
            <a:off x="530352" y="4925049"/>
            <a:ext cx="1073593" cy="1073593"/>
          </a:xfrm>
          <a:prstGeom prst="diamond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81C30"/>
                </a:solidFill>
                <a:latin typeface="Calibri"/>
              </a:rPr>
              <a:t>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05113" y="4895934"/>
            <a:ext cx="9853486" cy="1131823"/>
          </a:xfrm>
          <a:prstGeom prst="rect">
            <a:avLst/>
          </a:prstGeom>
          <a:solidFill>
            <a:srgbClr val="AEF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json is in the standard library, so this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sample does not install anything.</a:t>
            </a:r>
          </a:p>
        </p:txBody>
      </p:sp>
      <p:pic>
        <p:nvPicPr>
          <p:cNvPr id="19" name="cm-brand" descr=".brand-monk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525" y="6343650"/>
            <a:ext cx="341367" cy="341367"/>
          </a:xfrm>
          <a:prstGeom prst="rect">
            <a:avLst/>
          </a:prstGeom>
        </p:spPr>
      </p:pic>
      <p:sp>
        <p:nvSpPr>
          <p:cNvPr id="20" name="cm-brand-text"/>
          <p:cNvSpPr txBox="1"/>
          <p:nvPr/>
        </p:nvSpPr>
        <p:spPr>
          <a:xfrm>
            <a:off x="8290352" y="6377940"/>
            <a:ext cx="25602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AF0"/>
                </a:solidFill>
              </a:rPr>
              <a:t>cyphermonkeylabs.com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C3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7C3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AF0"/>
                </a:solidFill>
                <a:latin typeface="Calibri"/>
              </a:rPr>
              <a:t>Python Lab   ·   Level 05   ·   Classes and Modules   ·   6 / 11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6583680"/>
            <a:ext cx="164592" cy="164592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583680"/>
            <a:ext cx="164592" cy="164592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22024" y="6583680"/>
            <a:ext cx="164592" cy="164592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2880"/>
            <a:ext cx="11430000" cy="620776"/>
          </a:xfrm>
          <a:prstGeom prst="rect">
            <a:avLst/>
          </a:prstGeom>
          <a:solidFill>
            <a:srgbClr val="FF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import runs the module once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913384"/>
            <a:ext cx="6903720" cy="5414264"/>
          </a:xfrm>
          <a:prstGeom prst="roundRect">
            <a:avLst>
              <a:gd name="adj" fmla="val 8000"/>
            </a:avLst>
          </a:prstGeom>
          <a:solidFill>
            <a:srgbClr val="16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1" name="Rectangle 10"/>
          <p:cNvSpPr/>
          <p:nvPr/>
        </p:nvSpPr>
        <p:spPr>
          <a:xfrm>
            <a:off x="365760" y="913384"/>
            <a:ext cx="6903720" cy="365760"/>
          </a:xfrm>
          <a:prstGeom prst="rect">
            <a:avLst/>
          </a:prstGeom>
          <a:solidFill>
            <a:srgbClr val="AD4F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C43D"/>
                </a:solidFill>
                <a:latin typeface="Calibri"/>
              </a:rPr>
              <a:t>Python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" y="1334008"/>
            <a:ext cx="6684264" cy="4883912"/>
          </a:xfrm>
          <a:prstGeom prst="rect">
            <a:avLst/>
          </a:prstGeom>
          <a:solidFill>
            <a:srgbClr val="16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import json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import sys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print("json" in sys.modules)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print(json.dumps({"ok": True}))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0" y="913384"/>
            <a:ext cx="4343400" cy="5414264"/>
          </a:xfrm>
          <a:prstGeom prst="roundRect">
            <a:avLst>
              <a:gd name="adj" fmla="val 8000"/>
            </a:avLst>
          </a:prstGeom>
          <a:solidFill>
            <a:srgbClr val="E2F7E8"/>
          </a:solidFill>
          <a:ln w="19050">
            <a:solidFill>
              <a:srgbClr val="0C46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4" name="Rectangle 13"/>
          <p:cNvSpPr/>
          <p:nvPr/>
        </p:nvSpPr>
        <p:spPr>
          <a:xfrm>
            <a:off x="7452360" y="913384"/>
            <a:ext cx="4343400" cy="365760"/>
          </a:xfrm>
          <a:prstGeom prst="rect">
            <a:avLst/>
          </a:prstGeom>
          <a:solidFill>
            <a:srgbClr val="57B3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C4624"/>
                </a:solidFill>
                <a:latin typeface="Calibri"/>
              </a:rPr>
              <a:t>Output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71231" y="1352295"/>
            <a:ext cx="4114800" cy="4362704"/>
          </a:xfrm>
          <a:prstGeom prst="rect">
            <a:avLst/>
          </a:prstGeom>
          <a:solidFill>
            <a:srgbClr val="E2F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0C4624"/>
                </a:solidFill>
                <a:latin typeface="Consolas"/>
              </a:rPr>
              <a:t>True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0C4624"/>
                </a:solidFill>
                <a:latin typeface="Consolas"/>
              </a:rPr>
              <a:t>{"ok": true}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71231" y="5760720"/>
            <a:ext cx="4114800" cy="475488"/>
          </a:xfrm>
          <a:prstGeom prst="rect">
            <a:avLst/>
          </a:prstGeom>
          <a:solidFill>
            <a:srgbClr val="E2F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C4624"/>
                </a:solidFill>
                <a:latin typeface="Calibri"/>
              </a:rPr>
              <a:t>Printed by CPython 3.12.3. Not invented.</a:t>
            </a:r>
          </a:p>
        </p:txBody>
      </p:sp>
      <p:pic>
        <p:nvPicPr>
          <p:cNvPr id="17" name="cm-brand" descr=".brand-monk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525" y="6343650"/>
            <a:ext cx="341367" cy="341367"/>
          </a:xfrm>
          <a:prstGeom prst="rect">
            <a:avLst/>
          </a:prstGeom>
        </p:spPr>
      </p:pic>
      <p:sp>
        <p:nvSpPr>
          <p:cNvPr id="18" name="cm-brand-text"/>
          <p:cNvSpPr txBox="1"/>
          <p:nvPr/>
        </p:nvSpPr>
        <p:spPr>
          <a:xfrm>
            <a:off x="8290352" y="6377940"/>
            <a:ext cx="25602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AF0"/>
                </a:solidFill>
              </a:rPr>
              <a:t>cyphermonkeylabs.com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C3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7C3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AF0"/>
                </a:solidFill>
                <a:latin typeface="Calibri"/>
              </a:rPr>
              <a:t>Python Lab   ·   Level 05   ·   Classes and Modules   ·   7 / 11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6583680"/>
            <a:ext cx="164592" cy="164592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583680"/>
            <a:ext cx="164592" cy="164592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22024" y="6583680"/>
            <a:ext cx="164592" cy="164592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2880"/>
            <a:ext cx="11430000" cy="620776"/>
          </a:xfrm>
          <a:prstGeom prst="rect">
            <a:avLst/>
          </a:prstGeom>
          <a:solidFill>
            <a:srgbClr val="FF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A virtual environment isolates installs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913384"/>
            <a:ext cx="11475720" cy="1271270"/>
          </a:xfrm>
          <a:prstGeom prst="roundRect">
            <a:avLst>
              <a:gd name="adj" fmla="val 10000"/>
            </a:avLst>
          </a:prstGeom>
          <a:solidFill>
            <a:srgbClr val="FFB5B5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1" name="Oval 10"/>
          <p:cNvSpPr/>
          <p:nvPr/>
        </p:nvSpPr>
        <p:spPr>
          <a:xfrm>
            <a:off x="530352" y="1154925"/>
            <a:ext cx="788187" cy="788187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81C30"/>
                </a:solidFill>
                <a:latin typeface="Calibri"/>
              </a:rPr>
              <a:t>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19707" y="1041527"/>
            <a:ext cx="10138892" cy="1014983"/>
          </a:xfrm>
          <a:prstGeom prst="rect">
            <a:avLst/>
          </a:prstGeom>
          <a:solidFill>
            <a:srgbClr val="FFB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181C30"/>
                </a:solidFill>
                <a:latin typeface="Calibri"/>
              </a:rPr>
              <a:t>venv creates an environment with its own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181C30"/>
                </a:solidFill>
                <a:latin typeface="Calibri"/>
              </a:rPr>
              <a:t>site-packages.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" y="2294381"/>
            <a:ext cx="11475720" cy="1271270"/>
          </a:xfrm>
          <a:prstGeom prst="roundRect">
            <a:avLst>
              <a:gd name="adj" fmla="val 10000"/>
            </a:avLst>
          </a:prstGeom>
          <a:solidFill>
            <a:srgbClr val="FFE19E"/>
          </a:solidFill>
          <a:ln w="19050">
            <a:solidFill>
              <a:srgbClr val="FFC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4" name="Hexagon 13"/>
          <p:cNvSpPr/>
          <p:nvPr/>
        </p:nvSpPr>
        <p:spPr>
          <a:xfrm>
            <a:off x="530352" y="2535923"/>
            <a:ext cx="788187" cy="788187"/>
          </a:xfrm>
          <a:prstGeom prst="hexagon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81C30"/>
                </a:solidFill>
                <a:latin typeface="Calibri"/>
              </a:rPr>
              <a:t>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519707" y="2610484"/>
            <a:ext cx="10138892" cy="639064"/>
          </a:xfrm>
          <a:prstGeom prst="rect">
            <a:avLst/>
          </a:prstGeom>
          <a:solidFill>
            <a:srgbClr val="FFE1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PEP 405 is the design.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7472" y="3675379"/>
            <a:ext cx="11475720" cy="1271270"/>
          </a:xfrm>
          <a:prstGeom prst="roundRect">
            <a:avLst>
              <a:gd name="adj" fmla="val 10000"/>
            </a:avLst>
          </a:prstGeom>
          <a:solidFill>
            <a:srgbClr val="AEF4D9"/>
          </a:solidFill>
          <a:ln w="19050">
            <a:solidFill>
              <a:srgbClr val="5EE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7" name="Diamond 16"/>
          <p:cNvSpPr/>
          <p:nvPr/>
        </p:nvSpPr>
        <p:spPr>
          <a:xfrm>
            <a:off x="530352" y="3916921"/>
            <a:ext cx="788187" cy="788187"/>
          </a:xfrm>
          <a:prstGeom prst="diamond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81C30"/>
                </a:solidFill>
                <a:latin typeface="Calibri"/>
              </a:rPr>
              <a:t>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519707" y="3803522"/>
            <a:ext cx="10138892" cy="1014983"/>
          </a:xfrm>
          <a:prstGeom prst="rect">
            <a:avLst/>
          </a:prstGeom>
          <a:solidFill>
            <a:srgbClr val="AEF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181C30"/>
                </a:solidFill>
                <a:latin typeface="Calibri"/>
              </a:rPr>
              <a:t>This page does not create an environment during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181C30"/>
                </a:solidFill>
                <a:latin typeface="Calibri"/>
              </a:rPr>
              <a:t>the build, because that would write a folder.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7472" y="5056377"/>
            <a:ext cx="11475720" cy="1271270"/>
          </a:xfrm>
          <a:prstGeom prst="roundRect">
            <a:avLst>
              <a:gd name="adj" fmla="val 10000"/>
            </a:avLst>
          </a:prstGeom>
          <a:solidFill>
            <a:srgbClr val="FFBCD2"/>
          </a:solidFill>
          <a:ln w="19050">
            <a:solidFill>
              <a:srgbClr val="FF7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20" name="Pentagon 19"/>
          <p:cNvSpPr/>
          <p:nvPr/>
        </p:nvSpPr>
        <p:spPr>
          <a:xfrm>
            <a:off x="530352" y="5297919"/>
            <a:ext cx="788187" cy="788187"/>
          </a:xfrm>
          <a:prstGeom prst="homePlate">
            <a:avLst/>
          </a:prstGeom>
          <a:solidFill>
            <a:srgbClr val="FF7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81C30"/>
                </a:solidFill>
                <a:latin typeface="Calibri"/>
              </a:rPr>
              <a:t>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519707" y="5184520"/>
            <a:ext cx="10138892" cy="1014983"/>
          </a:xfrm>
          <a:prstGeom prst="rect">
            <a:avLst/>
          </a:prstGeom>
          <a:solidFill>
            <a:srgbClr val="FFB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181C30"/>
                </a:solidFill>
                <a:latin typeface="Calibri"/>
              </a:rPr>
              <a:t>The check below only reports that the venv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181C30"/>
                </a:solidFill>
                <a:latin typeface="Calibri"/>
              </a:rPr>
              <a:t>module can be found.</a:t>
            </a:r>
          </a:p>
        </p:txBody>
      </p:sp>
      <p:pic>
        <p:nvPicPr>
          <p:cNvPr id="22" name="cm-brand" descr=".brand-monk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525" y="6343650"/>
            <a:ext cx="341367" cy="341367"/>
          </a:xfrm>
          <a:prstGeom prst="rect">
            <a:avLst/>
          </a:prstGeom>
        </p:spPr>
      </p:pic>
      <p:sp>
        <p:nvSpPr>
          <p:cNvPr id="23" name="cm-brand-text"/>
          <p:cNvSpPr txBox="1"/>
          <p:nvPr/>
        </p:nvSpPr>
        <p:spPr>
          <a:xfrm>
            <a:off x="8290352" y="6377940"/>
            <a:ext cx="25602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AF0"/>
                </a:solidFill>
              </a:rPr>
              <a:t>cyphermonkeylabs.com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C3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7C3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AF0"/>
                </a:solidFill>
                <a:latin typeface="Calibri"/>
              </a:rPr>
              <a:t>Python Lab   ·   Level 05   ·   Classes and Modules   ·   8 / 11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6583680"/>
            <a:ext cx="164592" cy="164592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583680"/>
            <a:ext cx="164592" cy="164592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22024" y="6583680"/>
            <a:ext cx="164592" cy="164592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2880"/>
            <a:ext cx="11430000" cy="620776"/>
          </a:xfrm>
          <a:prstGeom prst="rect">
            <a:avLst/>
          </a:prstGeom>
          <a:solidFill>
            <a:srgbClr val="FF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A virtual environment isolates installs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913384"/>
            <a:ext cx="11384280" cy="5414264"/>
          </a:xfrm>
          <a:prstGeom prst="roundRect">
            <a:avLst>
              <a:gd name="adj" fmla="val 8000"/>
            </a:avLst>
          </a:prstGeom>
          <a:solidFill>
            <a:srgbClr val="16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1" name="Rectangle 10"/>
          <p:cNvSpPr/>
          <p:nvPr/>
        </p:nvSpPr>
        <p:spPr>
          <a:xfrm>
            <a:off x="365760" y="913384"/>
            <a:ext cx="11384280" cy="365760"/>
          </a:xfrm>
          <a:prstGeom prst="rect">
            <a:avLst/>
          </a:prstGeom>
          <a:solidFill>
            <a:srgbClr val="AD4F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C43D"/>
                </a:solidFill>
                <a:latin typeface="Calibri"/>
              </a:rPr>
              <a:t>Python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" y="1334008"/>
            <a:ext cx="11164824" cy="4883912"/>
          </a:xfrm>
          <a:prstGeom prst="rect">
            <a:avLst/>
          </a:prstGeom>
          <a:solidFill>
            <a:srgbClr val="16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import importlib.util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print(importlib.util.find_spec("venv") is not None)</a:t>
            </a:r>
          </a:p>
        </p:txBody>
      </p:sp>
      <p:pic>
        <p:nvPicPr>
          <p:cNvPr id="13" name="cm-brand" descr=".brand-monk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525" y="6343650"/>
            <a:ext cx="341367" cy="341367"/>
          </a:xfrm>
          <a:prstGeom prst="rect">
            <a:avLst/>
          </a:prstGeom>
        </p:spPr>
      </p:pic>
      <p:sp>
        <p:nvSpPr>
          <p:cNvPr id="14" name="cm-brand-text"/>
          <p:cNvSpPr txBox="1"/>
          <p:nvPr/>
        </p:nvSpPr>
        <p:spPr>
          <a:xfrm>
            <a:off x="8290352" y="6377940"/>
            <a:ext cx="25602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AF0"/>
                </a:solidFill>
              </a:rPr>
              <a:t>cyphermonkeylabs.com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C3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7C3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AF0"/>
                </a:solidFill>
                <a:latin typeface="Calibri"/>
              </a:rPr>
              <a:t>Python Lab   ·   Level 05   ·   Classes and Modules   ·   9 / 11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6583680"/>
            <a:ext cx="164592" cy="164592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583680"/>
            <a:ext cx="164592" cy="164592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22024" y="6583680"/>
            <a:ext cx="164592" cy="164592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2880"/>
            <a:ext cx="11430000" cy="1113535"/>
          </a:xfrm>
          <a:prstGeom prst="rect">
            <a:avLst/>
          </a:prstGeom>
          <a:solidFill>
            <a:srgbClr val="FF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A virtual environment isolates installs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output (1/1)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406143"/>
            <a:ext cx="11384280" cy="4921504"/>
          </a:xfrm>
          <a:prstGeom prst="roundRect">
            <a:avLst>
              <a:gd name="adj" fmla="val 8000"/>
            </a:avLst>
          </a:prstGeom>
          <a:solidFill>
            <a:srgbClr val="E2F7E8"/>
          </a:solidFill>
          <a:ln w="19050">
            <a:solidFill>
              <a:srgbClr val="0C46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1" name="Rectangle 10"/>
          <p:cNvSpPr/>
          <p:nvPr/>
        </p:nvSpPr>
        <p:spPr>
          <a:xfrm>
            <a:off x="365760" y="1406143"/>
            <a:ext cx="11384280" cy="365760"/>
          </a:xfrm>
          <a:prstGeom prst="rect">
            <a:avLst/>
          </a:prstGeom>
          <a:solidFill>
            <a:srgbClr val="57B3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C4624"/>
                </a:solidFill>
                <a:latin typeface="Calibri"/>
              </a:rPr>
              <a:t>Output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863343"/>
            <a:ext cx="11109960" cy="3869944"/>
          </a:xfrm>
          <a:prstGeom prst="rect">
            <a:avLst/>
          </a:prstGeom>
          <a:solidFill>
            <a:srgbClr val="E2F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0C4624"/>
                </a:solidFill>
                <a:latin typeface="Consolas"/>
              </a:rPr>
              <a:t>True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5797296"/>
            <a:ext cx="11109960" cy="420624"/>
          </a:xfrm>
          <a:prstGeom prst="rect">
            <a:avLst/>
          </a:prstGeom>
          <a:solidFill>
            <a:srgbClr val="E2F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0C4624"/>
                </a:solidFill>
                <a:latin typeface="Calibri"/>
              </a:rPr>
              <a:t>Printed by CPython 3.12.3. Not invented.</a:t>
            </a:r>
          </a:p>
        </p:txBody>
      </p:sp>
      <p:pic>
        <p:nvPicPr>
          <p:cNvPr id="14" name="cm-brand" descr=".brand-monk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525" y="6343650"/>
            <a:ext cx="341367" cy="341367"/>
          </a:xfrm>
          <a:prstGeom prst="rect">
            <a:avLst/>
          </a:prstGeom>
        </p:spPr>
      </p:pic>
      <p:sp>
        <p:nvSpPr>
          <p:cNvPr id="15" name="cm-brand-text"/>
          <p:cNvSpPr txBox="1"/>
          <p:nvPr/>
        </p:nvSpPr>
        <p:spPr>
          <a:xfrm>
            <a:off x="8290352" y="6377940"/>
            <a:ext cx="25602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AF0"/>
                </a:solidFill>
              </a:rPr>
              <a:t>cyphermonkeylabs.com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C3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7C3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AF0"/>
                </a:solidFill>
                <a:latin typeface="Calibri"/>
              </a:rPr>
              <a:t>Python Lab   ·   Level 05   ·   Classes and Modules   ·   10 / 11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6583680"/>
            <a:ext cx="164592" cy="164592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583680"/>
            <a:ext cx="164592" cy="164592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22024" y="6583680"/>
            <a:ext cx="164592" cy="164592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2880"/>
            <a:ext cx="11430000" cy="620776"/>
          </a:xfrm>
          <a:prstGeom prst="rect">
            <a:avLst/>
          </a:prstGeom>
          <a:solidFill>
            <a:srgbClr val="FF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Check yourself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913384"/>
            <a:ext cx="11475720" cy="1731602"/>
          </a:xfrm>
          <a:prstGeom prst="roundRect">
            <a:avLst>
              <a:gd name="adj" fmla="val 10000"/>
            </a:avLst>
          </a:prstGeom>
          <a:solidFill>
            <a:srgbClr val="FFB5B5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1" name="Oval 10"/>
          <p:cNvSpPr/>
          <p:nvPr/>
        </p:nvSpPr>
        <p:spPr>
          <a:xfrm>
            <a:off x="530352" y="1242388"/>
            <a:ext cx="1073593" cy="1073593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81C30"/>
                </a:solidFill>
                <a:latin typeface="Calibri"/>
              </a:rP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05113" y="1459653"/>
            <a:ext cx="9853486" cy="639064"/>
          </a:xfrm>
          <a:prstGeom prst="rect">
            <a:avLst/>
          </a:prstGeom>
          <a:solidFill>
            <a:srgbClr val="FFB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When does __init__ run?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" y="2754714"/>
            <a:ext cx="11475720" cy="1731602"/>
          </a:xfrm>
          <a:prstGeom prst="roundRect">
            <a:avLst>
              <a:gd name="adj" fmla="val 10000"/>
            </a:avLst>
          </a:prstGeom>
          <a:solidFill>
            <a:srgbClr val="FFE19E"/>
          </a:solidFill>
          <a:ln w="19050">
            <a:solidFill>
              <a:srgbClr val="FFC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4" name="Hexagon 13"/>
          <p:cNvSpPr/>
          <p:nvPr/>
        </p:nvSpPr>
        <p:spPr>
          <a:xfrm>
            <a:off x="530352" y="3083719"/>
            <a:ext cx="1073593" cy="1073593"/>
          </a:xfrm>
          <a:prstGeom prst="hexagon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81C30"/>
                </a:solidFill>
                <a:latin typeface="Calibri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05113" y="3054604"/>
            <a:ext cx="9853486" cy="1131823"/>
          </a:xfrm>
          <a:prstGeom prst="rect">
            <a:avLst/>
          </a:prstGeom>
          <a:solidFill>
            <a:srgbClr val="FFE1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Where does Python keep a module after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the first import?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7472" y="4596045"/>
            <a:ext cx="11475720" cy="1731602"/>
          </a:xfrm>
          <a:prstGeom prst="roundRect">
            <a:avLst>
              <a:gd name="adj" fmla="val 10000"/>
            </a:avLst>
          </a:prstGeom>
          <a:solidFill>
            <a:srgbClr val="AEF4D9"/>
          </a:solidFill>
          <a:ln w="19050">
            <a:solidFill>
              <a:srgbClr val="5EE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7" name="Diamond 16"/>
          <p:cNvSpPr/>
          <p:nvPr/>
        </p:nvSpPr>
        <p:spPr>
          <a:xfrm>
            <a:off x="530352" y="4925049"/>
            <a:ext cx="1073593" cy="1073593"/>
          </a:xfrm>
          <a:prstGeom prst="diamond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81C30"/>
                </a:solidFill>
                <a:latin typeface="Calibri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05113" y="4895934"/>
            <a:ext cx="9853486" cy="1131823"/>
          </a:xfrm>
          <a:prstGeom prst="rect">
            <a:avLst/>
          </a:prstGeom>
          <a:solidFill>
            <a:srgbClr val="AEF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What does a virtual environment keep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separate?</a:t>
            </a:r>
          </a:p>
        </p:txBody>
      </p:sp>
      <p:pic>
        <p:nvPicPr>
          <p:cNvPr id="19" name="cm-brand" descr=".brand-monk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525" y="6343650"/>
            <a:ext cx="341367" cy="341367"/>
          </a:xfrm>
          <a:prstGeom prst="rect">
            <a:avLst/>
          </a:prstGeom>
        </p:spPr>
      </p:pic>
      <p:sp>
        <p:nvSpPr>
          <p:cNvPr id="20" name="cm-brand-text"/>
          <p:cNvSpPr txBox="1"/>
          <p:nvPr/>
        </p:nvSpPr>
        <p:spPr>
          <a:xfrm>
            <a:off x="8290352" y="6377940"/>
            <a:ext cx="25602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AF0"/>
                </a:solidFill>
              </a:rPr>
              <a:t>cyphermonkeylabs.com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C3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7C3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AF0"/>
                </a:solidFill>
                <a:latin typeface="Calibri"/>
              </a:rPr>
              <a:t>Python Lab   ·   Level 05   ·   Classes and Modules   ·   11 / 11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6583680"/>
            <a:ext cx="164592" cy="164592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583680"/>
            <a:ext cx="164592" cy="164592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22024" y="6583680"/>
            <a:ext cx="164592" cy="164592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2880"/>
            <a:ext cx="11430000" cy="620776"/>
          </a:xfrm>
          <a:prstGeom prst="rect">
            <a:avLst/>
          </a:prstGeom>
          <a:solidFill>
            <a:srgbClr val="FF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Sources and licence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913384"/>
            <a:ext cx="11430000" cy="98094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1" name="Hexagon 10"/>
          <p:cNvSpPr/>
          <p:nvPr/>
        </p:nvSpPr>
        <p:spPr>
          <a:xfrm>
            <a:off x="502920" y="1202690"/>
            <a:ext cx="402336" cy="402336"/>
          </a:xfrm>
          <a:prstGeom prst="hexagon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81C30"/>
                </a:solidFill>
                <a:latin typeface="Calibri"/>
              </a:rP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51560" y="949959"/>
            <a:ext cx="10561320" cy="9077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Python tutorial: Classes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https://docs.python.org/3/tutorial/classes.html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1985772"/>
            <a:ext cx="11430000" cy="98094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4" name="Hexagon 13"/>
          <p:cNvSpPr/>
          <p:nvPr/>
        </p:nvSpPr>
        <p:spPr>
          <a:xfrm>
            <a:off x="502920" y="2275078"/>
            <a:ext cx="402336" cy="402336"/>
          </a:xfrm>
          <a:prstGeom prst="hexagon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81C30"/>
                </a:solidFill>
                <a:latin typeface="Calibri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51560" y="2022348"/>
            <a:ext cx="10561320" cy="9077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Python tutorial: Modules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https://docs.python.org/3/tutorial/modules.html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3058160"/>
            <a:ext cx="11430000" cy="98094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7" name="Hexagon 16"/>
          <p:cNvSpPr/>
          <p:nvPr/>
        </p:nvSpPr>
        <p:spPr>
          <a:xfrm>
            <a:off x="502920" y="3347466"/>
            <a:ext cx="402336" cy="402336"/>
          </a:xfrm>
          <a:prstGeom prst="hexagon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81C30"/>
                </a:solidFill>
                <a:latin typeface="Calibri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51560" y="3094736"/>
            <a:ext cx="10561320" cy="9077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Python docs: venv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https://docs.python.org/3/library/venv.html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4130548"/>
            <a:ext cx="11430000" cy="98094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20" name="Hexagon 19"/>
          <p:cNvSpPr/>
          <p:nvPr/>
        </p:nvSpPr>
        <p:spPr>
          <a:xfrm>
            <a:off x="502920" y="4419854"/>
            <a:ext cx="402336" cy="402336"/>
          </a:xfrm>
          <a:prstGeom prst="hexagon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81C30"/>
                </a:solidFill>
                <a:latin typeface="Calibri"/>
              </a:rPr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51560" y="4167124"/>
            <a:ext cx="10561320" cy="9077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PEP 405 – Python Virtual Environments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https://peps.python.org/pep-0405/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5184648"/>
            <a:ext cx="11430000" cy="1143000"/>
          </a:xfrm>
          <a:prstGeom prst="roundRect">
            <a:avLst>
              <a:gd name="adj" fmla="val 15000"/>
            </a:avLst>
          </a:prstGeom>
          <a:solidFill>
            <a:srgbClr val="FFD5D5"/>
          </a:solidFill>
          <a:ln w="19050">
            <a:solidFill>
              <a:srgbClr val="7C3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00" b="0">
                <a:solidFill>
                  <a:srgbClr val="181C30"/>
                </a:solidFill>
                <a:latin typeface="Calibri"/>
              </a:rPr>
              <a:t>Code © CypherMonkeyLabs, MIT.  Text CC BY-NC-SA 4.0.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00" b="0">
                <a:solidFill>
                  <a:srgbClr val="181C30"/>
                </a:solidFill>
                <a:latin typeface="Calibri"/>
              </a:rPr>
              <a:t>Educational material, not accredited coursework. No outcome is promised.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00" b="0">
                <a:solidFill>
                  <a:srgbClr val="181C30"/>
                </a:solidFill>
                <a:latin typeface="Calibri"/>
              </a:rPr>
              <a:t>Python is a trademark of the Python Software Foundation.</a:t>
            </a:r>
          </a:p>
        </p:txBody>
      </p:sp>
      <p:pic>
        <p:nvPicPr>
          <p:cNvPr id="23" name="cm-brand" descr=".brand-monk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525" y="6343650"/>
            <a:ext cx="341367" cy="341367"/>
          </a:xfrm>
          <a:prstGeom prst="rect">
            <a:avLst/>
          </a:prstGeom>
        </p:spPr>
      </p:pic>
      <p:sp>
        <p:nvSpPr>
          <p:cNvPr id="24" name="cm-brand-text"/>
          <p:cNvSpPr txBox="1"/>
          <p:nvPr/>
        </p:nvSpPr>
        <p:spPr>
          <a:xfrm>
            <a:off x="8290352" y="6377940"/>
            <a:ext cx="25602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AF0"/>
                </a:solidFill>
              </a:rPr>
              <a:t>cyphermonkeylabs.com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Classes and Modules</dc:title>
  <dc:subject>Python Lab Level 5</dc:subject>
  <dc:creator>CypherMonkeyLabs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
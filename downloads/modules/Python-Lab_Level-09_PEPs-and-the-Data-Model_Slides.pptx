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09   ·   PEPs and the Data Model   ·   1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81C30"/>
                </a:solidFill>
                <a:latin typeface="Calibri"/>
              </a:rPr>
              <a:t>PEPs and the Data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1200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40 hours  ·  Python 3.8+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A small Bag whose len is the number of items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you stored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24916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4229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27660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Call len and see it use the __len__ method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01726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4190999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04469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Name two PEPs this lab already cites for dates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and style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78536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9590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81279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Tell a style guide apart from a language rule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55345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7271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58088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Find the data model chapter in the language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reference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09_PEPs-and-the-Data-Mode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F8F5E9"/>
          </a:solidFill>
          <a:ln w="19050">
            <a:solidFill>
              <a:srgbClr val="7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  <p:pic>
        <p:nvPicPr>
          <p:cNvPr id="28" name="cm-brand" descr=".brand-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9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09   ·   PEPs and the Data Model   ·   2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393317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Call len and see it use the __len__ 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590165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Name two PEPs this lab already cites for dates 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style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4133723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Tell a style guide apart from a language rule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301361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Find the data model chapter in the language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reference</a:t>
            </a:r>
          </a:p>
        </p:txBody>
      </p:sp>
      <p:pic>
        <p:nvPicPr>
          <p:cNvPr id="25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6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09   ·   PEPs and the Data Model   ·   3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len asks the object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1ECD3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F1E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data model says operations such 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len look up special methods.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class can supply __len__.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5142314"/>
            <a:ext cx="9853486" cy="639064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len then returns that integer.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09   ·   PEPs and the Data Model   ·   4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len asks the object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9B9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class Bag: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def __init__(self, items):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self.items = list(items)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def __len__(self):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return len(self.items)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print(len(Bag(["pen", "ink"])))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print("py".__len__())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09   ·   PEPs and the Data Model   ·   5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PEP is a design document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F1ECD3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154925"/>
            <a:ext cx="788187" cy="788187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9707" y="1229487"/>
            <a:ext cx="10138892" cy="639064"/>
          </a:xfrm>
          <a:prstGeom prst="rect">
            <a:avLst/>
          </a:prstGeom>
          <a:solidFill>
            <a:srgbClr val="F1E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PEP 8 is the style guide.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294381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2535923"/>
            <a:ext cx="788187" cy="788187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19707" y="2610484"/>
            <a:ext cx="10138892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Formatting tools may warn about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3675379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3916921"/>
            <a:ext cx="788187" cy="788187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19707" y="3803522"/>
            <a:ext cx="10138892" cy="101498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CPython does not reject a program for ignoring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5056377"/>
            <a:ext cx="11475720" cy="1271270"/>
          </a:xfrm>
          <a:prstGeom prst="roundRect">
            <a:avLst>
              <a:gd name="adj" fmla="val 10000"/>
            </a:avLst>
          </a:prstGeom>
          <a:solidFill>
            <a:srgbClr val="FFBCD2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Pentagon 19"/>
          <p:cNvSpPr/>
          <p:nvPr/>
        </p:nvSpPr>
        <p:spPr>
          <a:xfrm>
            <a:off x="530352" y="5297919"/>
            <a:ext cx="788187" cy="788187"/>
          </a:xfrm>
          <a:prstGeom prst="homePlat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19707" y="5372481"/>
            <a:ext cx="10138892" cy="639064"/>
          </a:xfrm>
          <a:prstGeom prst="rect">
            <a:avLst/>
          </a:prstGeom>
          <a:solidFill>
            <a:srgbClr val="F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PEP 790 is the 3.15 release schedule.</a:t>
            </a:r>
          </a:p>
        </p:txBody>
      </p:sp>
      <p:pic>
        <p:nvPicPr>
          <p:cNvPr id="22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3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09   ·   PEPs and the Data Model   ·   6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PEP is a design document  (continued)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1ECD3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Chevron 10"/>
          <p:cNvSpPr/>
          <p:nvPr/>
        </p:nvSpPr>
        <p:spPr>
          <a:xfrm>
            <a:off x="530352" y="1690878"/>
            <a:ext cx="1097280" cy="1097280"/>
          </a:xfrm>
          <a:prstGeom prst="chevron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73606"/>
            <a:ext cx="9829800" cy="1131823"/>
          </a:xfrm>
          <a:prstGeom prst="rect">
            <a:avLst/>
          </a:prstGeom>
          <a:solidFill>
            <a:srgbClr val="F1E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This lab's sources record 3.15.0 final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as 9 October 2026 from that PEP.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Oval 13"/>
          <p:cNvSpPr/>
          <p:nvPr/>
        </p:nvSpPr>
        <p:spPr>
          <a:xfrm>
            <a:off x="530352" y="4452874"/>
            <a:ext cx="1097280" cy="1097280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PEP index lists the documents.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09   ·   PEPs and the Data Model   ·   7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PEP is a design document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9B9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cited = ["PEP 8", "PEP 790"]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print(", ".join(cited))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print("style guide" != "syntax rule")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PEP 8, PEP 790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09   ·   PEPs and the Data Model   ·   8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Where to read next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1ECD3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F1E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Open the data model chapter when you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want the rule for a special method.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Open the PEP index when you want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history of a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pages linked under Sources are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ones this Level uses.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09   ·   PEPs and the Data Model   ·   9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1ECD3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459653"/>
            <a:ext cx="9853486" cy="639064"/>
          </a:xfrm>
          <a:prstGeom prst="rect">
            <a:avLst/>
          </a:prstGeom>
          <a:solidFill>
            <a:srgbClr val="F1E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Which method does len call?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Is PEP 8 a compiler rule?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Which PEP in the sources is the 3.15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schedule?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09   ·   PEPs and the Data Model   ·   10 / 10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202690"/>
            <a:ext cx="402336" cy="402336"/>
          </a:xfrm>
          <a:prstGeom prst="hexagon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reference: Data model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https://docs.python.org/3/reference/datamodel.html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85772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2275078"/>
            <a:ext cx="402336" cy="402336"/>
          </a:xfrm>
          <a:prstGeom prst="hexagon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022348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PEP 8 – Style Guide for Python Code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https://peps.python.org/pep-0008/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58160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Hexagon 16"/>
          <p:cNvSpPr/>
          <p:nvPr/>
        </p:nvSpPr>
        <p:spPr>
          <a:xfrm>
            <a:off x="502920" y="3347466"/>
            <a:ext cx="402336" cy="402336"/>
          </a:xfrm>
          <a:prstGeom prst="hexagon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094736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PEP 790 – Python 3.15 Release Schedule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https://peps.python.org/pep-0790/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30548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E4D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Hexagon 19"/>
          <p:cNvSpPr/>
          <p:nvPr/>
        </p:nvSpPr>
        <p:spPr>
          <a:xfrm>
            <a:off x="502920" y="4419854"/>
            <a:ext cx="402336" cy="402336"/>
          </a:xfrm>
          <a:prstGeom prst="hexagon">
            <a:avLst/>
          </a:prstGeom>
          <a:solidFill>
            <a:srgbClr val="E4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167124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PEP index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https://peps.python.org/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F7F4E6"/>
          </a:solidFill>
          <a:ln w="19050">
            <a:solidFill>
              <a:srgbClr val="7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  <p:pic>
        <p:nvPicPr>
          <p:cNvPr id="23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4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PEPs and the Data Model</dc:title>
  <dc:subject>Python Lab Level 9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
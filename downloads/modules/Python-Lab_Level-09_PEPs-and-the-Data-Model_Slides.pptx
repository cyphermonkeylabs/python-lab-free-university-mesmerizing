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06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06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09   ·   PEPs and the Data Model   ·   1 / 10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292608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81C30"/>
                </a:solidFill>
                <a:latin typeface="Calibri"/>
              </a:rPr>
              <a:t>LEVEL 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786384"/>
            <a:ext cx="7040880" cy="1097280"/>
          </a:xfrm>
          <a:prstGeom prst="rect">
            <a:avLst/>
          </a:prstGeom>
          <a:solidFill>
            <a:srgbClr val="FC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181C30"/>
                </a:solidFill>
                <a:latin typeface="Calibri"/>
              </a:rPr>
              <a:t>PEPs and the Data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938528"/>
            <a:ext cx="6949440" cy="120091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E4D9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About 40 hours  ·  Python 3.8+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Project: A small Bag whose len is the number of items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you stored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Examples run on CPython 3.12.3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249168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E4D9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3" name="Rounded Rectangle 12"/>
          <p:cNvSpPr/>
          <p:nvPr/>
        </p:nvSpPr>
        <p:spPr>
          <a:xfrm>
            <a:off x="530352" y="342290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4128" y="3276600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Call len and see it use the __len__ method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4017264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6" name="Rounded Rectangle 15"/>
          <p:cNvSpPr/>
          <p:nvPr/>
        </p:nvSpPr>
        <p:spPr>
          <a:xfrm>
            <a:off x="530352" y="4190999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4044696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Name two PEPs this lab already cites for dates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and style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785360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9" name="Rounded Rectangle 18"/>
          <p:cNvSpPr/>
          <p:nvPr/>
        </p:nvSpPr>
        <p:spPr>
          <a:xfrm>
            <a:off x="530352" y="495909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4128" y="4812792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Tell a style guide apart from a language rule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5553456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7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2" name="Rounded Rectangle 21"/>
          <p:cNvSpPr/>
          <p:nvPr/>
        </p:nvSpPr>
        <p:spPr>
          <a:xfrm>
            <a:off x="530352" y="572719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7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4128" y="5580888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Find the data model chapter in the language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reference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411480"/>
            <a:ext cx="4206240" cy="28803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E4D9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pic>
        <p:nvPicPr>
          <p:cNvPr id="25" name="Picture 24" descr="Python-Lab_Level-09_PEPs-and-the-Data-Model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640080"/>
            <a:ext cx="3931920" cy="2212848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7772400" y="2880360"/>
            <a:ext cx="3931920" cy="320040"/>
          </a:xfrm>
          <a:prstGeom prst="rect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81C30"/>
                </a:solidFill>
                <a:latin typeface="Calibri"/>
              </a:rPr>
              <a:t>Cover card for this Level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35240" y="3474720"/>
            <a:ext cx="4206240" cy="2697480"/>
          </a:xfrm>
          <a:prstGeom prst="roundRect">
            <a:avLst>
              <a:gd name="adj" fmla="val 15000"/>
            </a:avLst>
          </a:prstGeom>
          <a:solidFill>
            <a:srgbClr val="F8F5E9"/>
          </a:solidFill>
          <a:ln w="19050">
            <a:solidFill>
              <a:srgbClr val="706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How to use these slides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Read a slide, then try the code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in your editor or the lab runner.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Green panels are real output.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Not accredited coursework.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06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06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09   ·   PEPs and the Data Model   ·   2 / 10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56032"/>
            <a:ext cx="11430000" cy="640080"/>
          </a:xfrm>
          <a:prstGeom prst="rect">
            <a:avLst/>
          </a:prstGeom>
          <a:solidFill>
            <a:srgbClr val="FC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You will be able 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051560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E4D9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640080" y="1391031"/>
            <a:ext cx="512064" cy="512064"/>
          </a:xfrm>
          <a:prstGeom prst="ellipse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1292840" y="2196846"/>
            <a:ext cx="256032" cy="256032"/>
          </a:xfrm>
          <a:prstGeom prst="downArrow">
            <a:avLst/>
          </a:prstGeom>
          <a:solidFill>
            <a:srgbClr val="706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25880" y="1393317"/>
            <a:ext cx="9692640" cy="5074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Call len and see it use the __len__ method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407158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5" name="Oval 14"/>
          <p:cNvSpPr/>
          <p:nvPr/>
        </p:nvSpPr>
        <p:spPr>
          <a:xfrm>
            <a:off x="640080" y="2746629"/>
            <a:ext cx="512064" cy="512064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11292840" y="3552444"/>
            <a:ext cx="256032" cy="256032"/>
          </a:xfrm>
          <a:prstGeom prst="downArrow">
            <a:avLst/>
          </a:prstGeom>
          <a:solidFill>
            <a:srgbClr val="706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25880" y="2590165"/>
            <a:ext cx="9692640" cy="8249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Name two PEPs this lab already cites for dates and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style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762756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9" name="Oval 18"/>
          <p:cNvSpPr/>
          <p:nvPr/>
        </p:nvSpPr>
        <p:spPr>
          <a:xfrm>
            <a:off x="640080" y="4102227"/>
            <a:ext cx="512064" cy="512064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1292840" y="4908042"/>
            <a:ext cx="256032" cy="256032"/>
          </a:xfrm>
          <a:prstGeom prst="downArrow">
            <a:avLst/>
          </a:prstGeom>
          <a:solidFill>
            <a:srgbClr val="706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25880" y="4133723"/>
            <a:ext cx="9692640" cy="449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Tell a style guide apart from a language rule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5118354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7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3" name="Oval 22"/>
          <p:cNvSpPr/>
          <p:nvPr/>
        </p:nvSpPr>
        <p:spPr>
          <a:xfrm>
            <a:off x="640080" y="5457825"/>
            <a:ext cx="512064" cy="512064"/>
          </a:xfrm>
          <a:prstGeom prst="ellipse">
            <a:avLst/>
          </a:prstGeom>
          <a:solidFill>
            <a:srgbClr val="FF7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5880" y="5301361"/>
            <a:ext cx="9692640" cy="8249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Find the data model chapter in the language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reference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06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06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09   ·   PEPs and the Data Model   ·   3 / 10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C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len asks the object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1ECD3"/>
          </a:solidFill>
          <a:ln w="19050">
            <a:solidFill>
              <a:srgbClr val="E4D9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242388"/>
            <a:ext cx="1073593" cy="1073593"/>
          </a:xfrm>
          <a:prstGeom prst="ellipse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5113" y="1213273"/>
            <a:ext cx="9853486" cy="1131823"/>
          </a:xfrm>
          <a:prstGeom prst="rect">
            <a:avLst/>
          </a:prstGeom>
          <a:solidFill>
            <a:srgbClr val="F1E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The data model says operations such 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len look up special methods.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75471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3083719"/>
            <a:ext cx="1073593" cy="1073593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5113" y="3300984"/>
            <a:ext cx="9853486" cy="63906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class can supply __len__.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596045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AEF4D9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Diamond 16"/>
          <p:cNvSpPr/>
          <p:nvPr/>
        </p:nvSpPr>
        <p:spPr>
          <a:xfrm>
            <a:off x="530352" y="4925049"/>
            <a:ext cx="1073593" cy="1073593"/>
          </a:xfrm>
          <a:prstGeom prst="diamond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5113" y="5142314"/>
            <a:ext cx="9853486" cy="639064"/>
          </a:xfrm>
          <a:prstGeom prst="rect">
            <a:avLst/>
          </a:prstGeom>
          <a:solidFill>
            <a:srgbClr val="AEF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len then returns that integer.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06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06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09   ·   PEPs and the Data Model   ·   4 / 10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C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len asks the object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690372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6903720" cy="365760"/>
          </a:xfrm>
          <a:prstGeom prst="rect">
            <a:avLst/>
          </a:prstGeom>
          <a:solidFill>
            <a:srgbClr val="9B9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668426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class Bag: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def __init__(self, items):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    self.items = list(items)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def __len__(self):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    return len(self.items)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print(len(Bag(["pen", "ink"])))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print("py".__len__())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913384"/>
            <a:ext cx="434340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7452360" y="913384"/>
            <a:ext cx="434340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352295"/>
            <a:ext cx="411480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1" y="5760720"/>
            <a:ext cx="4114800" cy="475488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06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06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09   ·   PEPs and the Data Model   ·   5 / 10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C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PEP is a design document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1271270"/>
          </a:xfrm>
          <a:prstGeom prst="roundRect">
            <a:avLst>
              <a:gd name="adj" fmla="val 10000"/>
            </a:avLst>
          </a:prstGeom>
          <a:solidFill>
            <a:srgbClr val="F1ECD3"/>
          </a:solidFill>
          <a:ln w="19050">
            <a:solidFill>
              <a:srgbClr val="E4D9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154925"/>
            <a:ext cx="788187" cy="788187"/>
          </a:xfrm>
          <a:prstGeom prst="ellipse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19707" y="1229487"/>
            <a:ext cx="10138892" cy="639064"/>
          </a:xfrm>
          <a:prstGeom prst="rect">
            <a:avLst/>
          </a:prstGeom>
          <a:solidFill>
            <a:srgbClr val="F1E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PEP 8 is the style guide.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294381"/>
            <a:ext cx="11475720" cy="1271270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2535923"/>
            <a:ext cx="788187" cy="788187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19707" y="2610484"/>
            <a:ext cx="10138892" cy="63906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Formatting tools may warn about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3675379"/>
            <a:ext cx="11475720" cy="1271270"/>
          </a:xfrm>
          <a:prstGeom prst="roundRect">
            <a:avLst>
              <a:gd name="adj" fmla="val 10000"/>
            </a:avLst>
          </a:prstGeom>
          <a:solidFill>
            <a:srgbClr val="AEF4D9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Diamond 16"/>
          <p:cNvSpPr/>
          <p:nvPr/>
        </p:nvSpPr>
        <p:spPr>
          <a:xfrm>
            <a:off x="530352" y="3916921"/>
            <a:ext cx="788187" cy="788187"/>
          </a:xfrm>
          <a:prstGeom prst="diamond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19707" y="3803522"/>
            <a:ext cx="10138892" cy="1014983"/>
          </a:xfrm>
          <a:prstGeom prst="rect">
            <a:avLst/>
          </a:prstGeom>
          <a:solidFill>
            <a:srgbClr val="AEF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CPython does not reject a program for ignoring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" y="5056377"/>
            <a:ext cx="11475720" cy="1271270"/>
          </a:xfrm>
          <a:prstGeom prst="roundRect">
            <a:avLst>
              <a:gd name="adj" fmla="val 10000"/>
            </a:avLst>
          </a:prstGeom>
          <a:solidFill>
            <a:srgbClr val="FFBCD2"/>
          </a:solidFill>
          <a:ln w="19050">
            <a:solidFill>
              <a:srgbClr val="FF7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0" name="Pentagon 19"/>
          <p:cNvSpPr/>
          <p:nvPr/>
        </p:nvSpPr>
        <p:spPr>
          <a:xfrm>
            <a:off x="530352" y="5297919"/>
            <a:ext cx="788187" cy="788187"/>
          </a:xfrm>
          <a:prstGeom prst="homePlate">
            <a:avLst/>
          </a:prstGeom>
          <a:solidFill>
            <a:srgbClr val="FF7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19707" y="5372481"/>
            <a:ext cx="10138892" cy="639064"/>
          </a:xfrm>
          <a:prstGeom prst="rect">
            <a:avLst/>
          </a:prstGeom>
          <a:solidFill>
            <a:srgbClr val="FFB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PEP 790 is the 3.15 release schedule.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06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06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09   ·   PEPs and the Data Model   ·   6 / 10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C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PEP is a design document  (continued)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1ECD3"/>
          </a:solidFill>
          <a:ln w="19050">
            <a:solidFill>
              <a:srgbClr val="E4D9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Chevron 10"/>
          <p:cNvSpPr/>
          <p:nvPr/>
        </p:nvSpPr>
        <p:spPr>
          <a:xfrm>
            <a:off x="530352" y="1690878"/>
            <a:ext cx="1097280" cy="1097280"/>
          </a:xfrm>
          <a:prstGeom prst="chevron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673606"/>
            <a:ext cx="9829800" cy="1131823"/>
          </a:xfrm>
          <a:prstGeom prst="rect">
            <a:avLst/>
          </a:prstGeom>
          <a:solidFill>
            <a:srgbClr val="F1E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This lab's sources record 3.15.0 final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as 9 October 2026 from that PEP.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3675380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Oval 13"/>
          <p:cNvSpPr/>
          <p:nvPr/>
        </p:nvSpPr>
        <p:spPr>
          <a:xfrm>
            <a:off x="530352" y="4452874"/>
            <a:ext cx="1097280" cy="1097280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681982"/>
            <a:ext cx="9829800" cy="63906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The PEP index lists the documents.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06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06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09   ·   PEPs and the Data Model   ·   7 / 10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C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PEP is a design document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690372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6903720" cy="365760"/>
          </a:xfrm>
          <a:prstGeom prst="rect">
            <a:avLst/>
          </a:prstGeom>
          <a:solidFill>
            <a:srgbClr val="9B9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668426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cited = ["PEP 8", "PEP 790"]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print(", ".join(cited))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print("style guide" != "syntax rule")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913384"/>
            <a:ext cx="434340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7452360" y="913384"/>
            <a:ext cx="434340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352295"/>
            <a:ext cx="411480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PEP 8, PEP 790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True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1" y="5760720"/>
            <a:ext cx="4114800" cy="475488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06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06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09   ·   PEPs and the Data Model   ·   8 / 10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C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Where to read next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1ECD3"/>
          </a:solidFill>
          <a:ln w="19050">
            <a:solidFill>
              <a:srgbClr val="E4D9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242388"/>
            <a:ext cx="1073593" cy="1073593"/>
          </a:xfrm>
          <a:prstGeom prst="ellipse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5113" y="1213273"/>
            <a:ext cx="9853486" cy="1131823"/>
          </a:xfrm>
          <a:prstGeom prst="rect">
            <a:avLst/>
          </a:prstGeom>
          <a:solidFill>
            <a:srgbClr val="F1E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Open the data model chapter when you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want the rule for a special method.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75471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3083719"/>
            <a:ext cx="1073593" cy="1073593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5113" y="3054604"/>
            <a:ext cx="9853486" cy="1131823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Open the PEP index when you want the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history of a change.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596045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AEF4D9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Diamond 16"/>
          <p:cNvSpPr/>
          <p:nvPr/>
        </p:nvSpPr>
        <p:spPr>
          <a:xfrm>
            <a:off x="530352" y="4925049"/>
            <a:ext cx="1073593" cy="1073593"/>
          </a:xfrm>
          <a:prstGeom prst="diamond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5113" y="4895934"/>
            <a:ext cx="9853486" cy="1131823"/>
          </a:xfrm>
          <a:prstGeom prst="rect">
            <a:avLst/>
          </a:prstGeom>
          <a:solidFill>
            <a:srgbClr val="AEF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The pages linked under Sources are the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ones this Level uses.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06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06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09   ·   PEPs and the Data Model   ·   9 / 10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C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Check yourself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1ECD3"/>
          </a:solidFill>
          <a:ln w="19050">
            <a:solidFill>
              <a:srgbClr val="E4D9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242388"/>
            <a:ext cx="1073593" cy="1073593"/>
          </a:xfrm>
          <a:prstGeom prst="ellipse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5113" y="1459653"/>
            <a:ext cx="9853486" cy="639064"/>
          </a:xfrm>
          <a:prstGeom prst="rect">
            <a:avLst/>
          </a:prstGeom>
          <a:solidFill>
            <a:srgbClr val="F1E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Which method does len call?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75471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3083719"/>
            <a:ext cx="1073593" cy="1073593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5113" y="3300984"/>
            <a:ext cx="9853486" cy="63906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Is PEP 8 a compiler rule?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596045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AEF4D9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Diamond 16"/>
          <p:cNvSpPr/>
          <p:nvPr/>
        </p:nvSpPr>
        <p:spPr>
          <a:xfrm>
            <a:off x="530352" y="4925049"/>
            <a:ext cx="1073593" cy="1073593"/>
          </a:xfrm>
          <a:prstGeom prst="diamond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5113" y="4895934"/>
            <a:ext cx="9853486" cy="1131823"/>
          </a:xfrm>
          <a:prstGeom prst="rect">
            <a:avLst/>
          </a:prstGeom>
          <a:solidFill>
            <a:srgbClr val="AEF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Which PEP in the sources is the 3.15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schedule?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06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06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09   ·   PEPs and the Data Model   ·   10 / 10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C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Sources and licence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430000" cy="980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E4D9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Hexagon 10"/>
          <p:cNvSpPr/>
          <p:nvPr/>
        </p:nvSpPr>
        <p:spPr>
          <a:xfrm>
            <a:off x="502920" y="1202690"/>
            <a:ext cx="402336" cy="402336"/>
          </a:xfrm>
          <a:prstGeom prst="hexagon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949959"/>
            <a:ext cx="10561320" cy="9077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Python reference: Data model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https://docs.python.org/3/reference/datamodel.html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985772"/>
            <a:ext cx="11430000" cy="980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E4D9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02920" y="2275078"/>
            <a:ext cx="402336" cy="402336"/>
          </a:xfrm>
          <a:prstGeom prst="hexagon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1560" y="2022348"/>
            <a:ext cx="10561320" cy="9077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PEP 8 – Style Guide for Python Code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https://peps.python.org/pep-0008/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058160"/>
            <a:ext cx="11430000" cy="980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E4D9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Hexagon 16"/>
          <p:cNvSpPr/>
          <p:nvPr/>
        </p:nvSpPr>
        <p:spPr>
          <a:xfrm>
            <a:off x="502920" y="3347466"/>
            <a:ext cx="402336" cy="402336"/>
          </a:xfrm>
          <a:prstGeom prst="hexagon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3094736"/>
            <a:ext cx="10561320" cy="9077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PEP 790 – Python 3.15 Release Schedule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https://peps.python.org/pep-0790/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130548"/>
            <a:ext cx="11430000" cy="980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E4D9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0" name="Hexagon 19"/>
          <p:cNvSpPr/>
          <p:nvPr/>
        </p:nvSpPr>
        <p:spPr>
          <a:xfrm>
            <a:off x="502920" y="4419854"/>
            <a:ext cx="402336" cy="402336"/>
          </a:xfrm>
          <a:prstGeom prst="hexagon">
            <a:avLst/>
          </a:prstGeom>
          <a:solidFill>
            <a:srgbClr val="E4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" y="4167124"/>
            <a:ext cx="10561320" cy="9077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PEP index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https://peps.python.org/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5184648"/>
            <a:ext cx="11430000" cy="1143000"/>
          </a:xfrm>
          <a:prstGeom prst="roundRect">
            <a:avLst>
              <a:gd name="adj" fmla="val 15000"/>
            </a:avLst>
          </a:prstGeom>
          <a:solidFill>
            <a:srgbClr val="F7F4E6"/>
          </a:solidFill>
          <a:ln w="19050">
            <a:solidFill>
              <a:srgbClr val="706A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Code © CypherMonkeyLabs, MIT.  Text CC BY-NC-SA 4.0.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Educational material, not accredited coursework. No outcome is promised.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Python is a trademark of the Python Software Foundation.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PEPs and the Data Model</dc:title>
  <dc:subject>Python Lab Level 9</dc:subject>
  <dc:creator>CypherMonkeyLabs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
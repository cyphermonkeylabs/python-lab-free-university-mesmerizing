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1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292608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81C30"/>
                </a:solidFill>
                <a:latin typeface="Calibri"/>
              </a:rPr>
              <a:t>LEVEL 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786384"/>
            <a:ext cx="7040880" cy="10972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181C30"/>
                </a:solidFill>
                <a:latin typeface="Calibri"/>
              </a:rPr>
              <a:t>Generators and Type Hints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938528"/>
            <a:ext cx="6949440" cy="9418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About 40 hours  ·  Python 3.9+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Project: A countdown generator with a hinted total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Examples run on CPython 3.12.3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990088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3" name="Rounded Rectangle 12"/>
          <p:cNvSpPr/>
          <p:nvPr/>
        </p:nvSpPr>
        <p:spPr>
          <a:xfrm>
            <a:off x="530352" y="3163824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" y="3017520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Write a generator that yields one value at 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time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758184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6" name="Rounded Rectangle 15"/>
          <p:cNvSpPr/>
          <p:nvPr/>
        </p:nvSpPr>
        <p:spPr>
          <a:xfrm>
            <a:off x="530352" y="39319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24128" y="3785616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Wrap a def with a decorator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526280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Rounded Rectangle 18"/>
          <p:cNvSpPr/>
          <p:nvPr/>
        </p:nvSpPr>
        <p:spPr>
          <a:xfrm>
            <a:off x="530352" y="4700016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" y="4553712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Read a hint back from __annotations__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5294376"/>
            <a:ext cx="6949440" cy="71323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2" name="Rounded Rectangle 21"/>
          <p:cNvSpPr/>
          <p:nvPr/>
        </p:nvSpPr>
        <p:spPr>
          <a:xfrm>
            <a:off x="530352" y="54681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24128" y="5321808"/>
            <a:ext cx="61722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State that hints are not enforced while the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181C30"/>
                </a:solidFill>
                <a:latin typeface="Calibri"/>
              </a:rPr>
              <a:t>program runs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35240" y="411480"/>
            <a:ext cx="4206240" cy="28803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pic>
        <p:nvPicPr>
          <p:cNvPr id="25" name="Picture 24" descr="Python-Lab_Level-07_Generators-and-Type-Hints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640080"/>
            <a:ext cx="3931920" cy="2212848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7772400" y="2880360"/>
            <a:ext cx="3931920" cy="32004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81C30"/>
                </a:solidFill>
                <a:latin typeface="Calibri"/>
              </a:rPr>
              <a:t>Cover card for this Level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474720"/>
            <a:ext cx="4206240" cy="2697480"/>
          </a:xfrm>
          <a:prstGeom prst="roundRect">
            <a:avLst>
              <a:gd name="adj" fmla="val 15000"/>
            </a:avLst>
          </a:prstGeom>
          <a:solidFill>
            <a:srgbClr val="E1ECFF"/>
          </a:solidFill>
          <a:ln w="19050">
            <a:solidFill>
              <a:srgbClr val="4859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How to use these slides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Read a slide, then try the code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in your editor or the lab runner.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Green panels are real output.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Not accredited coursework.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2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56032"/>
            <a:ext cx="11430000" cy="64008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You will be able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1051560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640080" y="1391031"/>
            <a:ext cx="512064" cy="512064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1292840" y="2196846"/>
            <a:ext cx="256032" cy="256032"/>
          </a:xfrm>
          <a:prstGeom prst="downArrow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25880" y="1422526"/>
            <a:ext cx="9692640" cy="4490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Write a generator that yields one value at a time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2407158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5" name="Oval 14"/>
          <p:cNvSpPr/>
          <p:nvPr/>
        </p:nvSpPr>
        <p:spPr>
          <a:xfrm>
            <a:off x="640080" y="2746629"/>
            <a:ext cx="512064" cy="512064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1292840" y="3552444"/>
            <a:ext cx="256032" cy="256032"/>
          </a:xfrm>
          <a:prstGeom prst="downArrow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325880" y="2748914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Wrap a def with a decorator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3762756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9" name="Oval 18"/>
          <p:cNvSpPr/>
          <p:nvPr/>
        </p:nvSpPr>
        <p:spPr>
          <a:xfrm>
            <a:off x="640080" y="4102227"/>
            <a:ext cx="512064" cy="512064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1292840" y="4908042"/>
            <a:ext cx="256032" cy="256032"/>
          </a:xfrm>
          <a:prstGeom prst="downArrow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25880" y="4104513"/>
            <a:ext cx="9692640" cy="5074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Read a hint back from __annotations__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5118354"/>
            <a:ext cx="11338560" cy="1191006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3" name="Oval 22"/>
          <p:cNvSpPr/>
          <p:nvPr/>
        </p:nvSpPr>
        <p:spPr>
          <a:xfrm>
            <a:off x="640080" y="5457825"/>
            <a:ext cx="512064" cy="512064"/>
          </a:xfrm>
          <a:prstGeom prst="ellips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25880" y="5301361"/>
            <a:ext cx="9692640" cy="82499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State that hints are not enforced while the program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400" b="1">
                <a:solidFill>
                  <a:srgbClr val="181C30"/>
                </a:solidFill>
                <a:latin typeface="Calibri"/>
              </a:rPr>
              <a:t>runs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3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yield pauses and resumes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C4D9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213273"/>
            <a:ext cx="9853486" cy="1131823"/>
          </a:xfrm>
          <a:prstGeom prst="rect">
            <a:avLst/>
          </a:prstGeom>
          <a:solidFill>
            <a:srgbClr val="C4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generator produces values one at a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list pulls every yielded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The reference describes yield as the way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generator sends a value to its caller.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4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yield pauses and resumes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617E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countdown(n):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while n: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yield 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n -= 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print(list(countdown(3)))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[3, 2, 1]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5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decorator wraps a def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C4D9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054523"/>
            <a:ext cx="9853486" cy="1449323"/>
          </a:xfrm>
          <a:prstGeom prst="rect">
            <a:avLst/>
          </a:prstGeom>
          <a:solidFill>
            <a:srgbClr val="C4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The glossary defines a decorator as a way to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return a new object, usually a wrapper, that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replaces the original.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054604"/>
            <a:ext cx="9853486" cy="1131823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This wrapper uppercases the returned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text.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5142314"/>
            <a:ext cx="9853486" cy="639064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Hints are not involved yet.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6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decorator wraps a def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690372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6903720" cy="365760"/>
          </a:xfrm>
          <a:prstGeom prst="rect">
            <a:avLst/>
          </a:prstGeom>
          <a:solidFill>
            <a:srgbClr val="617E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668426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shout(fn):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def wrapped(text):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    return fn(text).upper()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wrapped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@shout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greet(text):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"hi " + text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print(greet("ada"))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52360" y="913384"/>
            <a:ext cx="434340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Rectangle 13"/>
          <p:cNvSpPr/>
          <p:nvPr/>
        </p:nvSpPr>
        <p:spPr>
          <a:xfrm>
            <a:off x="7452360" y="913384"/>
            <a:ext cx="434340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71231" y="1352295"/>
            <a:ext cx="411480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HI ADA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71231" y="5760720"/>
            <a:ext cx="4114800" cy="475488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7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Hints are readable, not a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C4D9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154925"/>
            <a:ext cx="788187" cy="788187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9707" y="1041527"/>
            <a:ext cx="10138892" cy="1014983"/>
          </a:xfrm>
          <a:prstGeom prst="rect">
            <a:avLst/>
          </a:prstGeom>
          <a:solidFill>
            <a:srgbClr val="C4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PEP 484 says type hints are optional and are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not required at runtime.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294381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2535923"/>
            <a:ext cx="788187" cy="788187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519707" y="2610484"/>
            <a:ext cx="10138892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CPython stores them on __annotations__.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3675379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3916921"/>
            <a:ext cx="788187" cy="788187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519707" y="4020692"/>
            <a:ext cx="10138892" cy="58064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It does not reject a call that ignores them.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" y="5056377"/>
            <a:ext cx="11475720" cy="1271270"/>
          </a:xfrm>
          <a:prstGeom prst="roundRect">
            <a:avLst>
              <a:gd name="adj" fmla="val 10000"/>
            </a:avLst>
          </a:prstGeom>
          <a:solidFill>
            <a:srgbClr val="FFBCD2"/>
          </a:solidFill>
          <a:ln w="19050">
            <a:solidFill>
              <a:srgbClr val="FF7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Pentagon 19"/>
          <p:cNvSpPr/>
          <p:nvPr/>
        </p:nvSpPr>
        <p:spPr>
          <a:xfrm>
            <a:off x="530352" y="5297919"/>
            <a:ext cx="788187" cy="788187"/>
          </a:xfrm>
          <a:prstGeom prst="homePlate">
            <a:avLst/>
          </a:prstGeom>
          <a:solidFill>
            <a:srgbClr val="FF7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519707" y="5184520"/>
            <a:ext cx="10138892" cy="1014983"/>
          </a:xfrm>
          <a:prstGeom prst="rect">
            <a:avLst/>
          </a:prstGeom>
          <a:solidFill>
            <a:srgbClr val="FFB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typing is the standard-library module for the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800" b="1">
                <a:solidFill>
                  <a:srgbClr val="181C30"/>
                </a:solidFill>
                <a:latin typeface="Calibri"/>
              </a:rPr>
              <a:t>hint names.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8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Hints are readable, not a gate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617E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C43D"/>
                </a:solidFill>
                <a:latin typeface="Calibri"/>
              </a:rPr>
              <a:t>Python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5488" y="1334008"/>
            <a:ext cx="11164824" cy="4883912"/>
          </a:xfrm>
          <a:prstGeom prst="rect">
            <a:avLst/>
          </a:prstGeom>
          <a:solidFill>
            <a:srgbClr val="161B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def add(a: int, b: int) -&gt; int: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   return a + b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 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print(add(2, 5))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0">
                <a:solidFill>
                  <a:srgbClr val="ECF2FF"/>
                </a:solidFill>
                <a:latin typeface="Consolas"/>
              </a:rPr>
              <a:t>print(add.__annotations__["return"].__name__)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9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Hints are readable, not a gate  output (1/1)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384280" cy="5414264"/>
          </a:xfrm>
          <a:prstGeom prst="roundRect">
            <a:avLst>
              <a:gd name="adj" fmla="val 8000"/>
            </a:avLst>
          </a:prstGeom>
          <a:solidFill>
            <a:srgbClr val="E2F7E8"/>
          </a:solidFill>
          <a:ln w="19050">
            <a:solidFill>
              <a:srgbClr val="0C46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Rectangle 10"/>
          <p:cNvSpPr/>
          <p:nvPr/>
        </p:nvSpPr>
        <p:spPr>
          <a:xfrm>
            <a:off x="365760" y="913384"/>
            <a:ext cx="11384280" cy="365760"/>
          </a:xfrm>
          <a:prstGeom prst="rect">
            <a:avLst/>
          </a:prstGeom>
          <a:solidFill>
            <a:srgbClr val="57B3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C4624"/>
                </a:solidFill>
                <a:latin typeface="Calibri"/>
              </a:rPr>
              <a:t>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370583"/>
            <a:ext cx="11109960" cy="436270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7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0C4624"/>
                </a:solidFill>
                <a:latin typeface="Consolas"/>
              </a:rPr>
              <a:t>int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797296"/>
            <a:ext cx="11109960" cy="420624"/>
          </a:xfrm>
          <a:prstGeom prst="rect">
            <a:avLst/>
          </a:prstGeom>
          <a:solidFill>
            <a:srgbClr val="E2F7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C4624"/>
                </a:solidFill>
                <a:latin typeface="Calibri"/>
              </a:rPr>
              <a:t>Printed by CPython 3.12.3. Not invented.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10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Check yourself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" y="91338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C4D9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Oval 10"/>
          <p:cNvSpPr/>
          <p:nvPr/>
        </p:nvSpPr>
        <p:spPr>
          <a:xfrm>
            <a:off x="530352" y="1242388"/>
            <a:ext cx="1073593" cy="1073593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05113" y="1459653"/>
            <a:ext cx="9853486" cy="639064"/>
          </a:xfrm>
          <a:prstGeom prst="rect">
            <a:avLst/>
          </a:prstGeom>
          <a:solidFill>
            <a:srgbClr val="C4D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yield do that return does not?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7472" y="2754714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FFE19E"/>
          </a:solidFill>
          <a:ln w="19050">
            <a:solidFill>
              <a:srgbClr val="FFC4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30352" y="3083719"/>
            <a:ext cx="1073593" cy="1073593"/>
          </a:xfrm>
          <a:prstGeom prst="hexagon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5113" y="3300984"/>
            <a:ext cx="9853486" cy="639064"/>
          </a:xfrm>
          <a:prstGeom prst="rect">
            <a:avLst/>
          </a:prstGeom>
          <a:solidFill>
            <a:srgbClr val="FFE1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What does a decorator return?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4596045"/>
            <a:ext cx="11475720" cy="1731602"/>
          </a:xfrm>
          <a:prstGeom prst="roundRect">
            <a:avLst>
              <a:gd name="adj" fmla="val 10000"/>
            </a:avLst>
          </a:prstGeom>
          <a:solidFill>
            <a:srgbClr val="AEF4D9"/>
          </a:solidFill>
          <a:ln w="19050">
            <a:solidFill>
              <a:srgbClr val="5EEA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Diamond 16"/>
          <p:cNvSpPr/>
          <p:nvPr/>
        </p:nvSpPr>
        <p:spPr>
          <a:xfrm>
            <a:off x="530352" y="4925049"/>
            <a:ext cx="1073593" cy="1073593"/>
          </a:xfrm>
          <a:prstGeom prst="diamond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" rIns="18288" tIns="18288" bIns="18288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36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05113" y="4895934"/>
            <a:ext cx="9853486" cy="1131823"/>
          </a:xfrm>
          <a:prstGeom prst="rect">
            <a:avLst/>
          </a:prstGeom>
          <a:solidFill>
            <a:srgbClr val="AEF4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Does Python stop you when a call ignores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a hint?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5" name="Rectangle 4"/>
          <p:cNvSpPr/>
          <p:nvPr/>
        </p:nvSpPr>
        <p:spPr>
          <a:xfrm>
            <a:off x="0" y="6473952"/>
            <a:ext cx="12191695" cy="384048"/>
          </a:xfrm>
          <a:prstGeom prst="rect">
            <a:avLst/>
          </a:prstGeom>
          <a:solidFill>
            <a:srgbClr val="4859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AF0"/>
                </a:solidFill>
                <a:latin typeface="Calibri"/>
              </a:rPr>
              <a:t>Python Lab   ·   Level 07   ·   Generators and Type Hints   ·   11 / 11</a:t>
            </a:r>
          </a:p>
        </p:txBody>
      </p:sp>
      <p:sp>
        <p:nvSpPr>
          <p:cNvPr id="6" name="Oval 5"/>
          <p:cNvSpPr/>
          <p:nvPr/>
        </p:nvSpPr>
        <p:spPr>
          <a:xfrm>
            <a:off x="11109960" y="6583680"/>
            <a:ext cx="164592" cy="164592"/>
          </a:xfrm>
          <a:prstGeom prst="ellipse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65992" y="6583680"/>
            <a:ext cx="164592" cy="164592"/>
          </a:xfrm>
          <a:prstGeom prst="ellipse">
            <a:avLst/>
          </a:prstGeom>
          <a:solidFill>
            <a:srgbClr val="FFC4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622024" y="6583680"/>
            <a:ext cx="164592" cy="164592"/>
          </a:xfrm>
          <a:prstGeom prst="ellipse">
            <a:avLst/>
          </a:prstGeom>
          <a:solidFill>
            <a:srgbClr val="5EEA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2880"/>
            <a:ext cx="11430000" cy="620776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181C30"/>
                </a:solidFill>
                <a:latin typeface="Calibri"/>
              </a:rPr>
              <a:t>Sources and licence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913384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1" name="Hexagon 10"/>
          <p:cNvSpPr/>
          <p:nvPr/>
        </p:nvSpPr>
        <p:spPr>
          <a:xfrm>
            <a:off x="502920" y="1202690"/>
            <a:ext cx="402336" cy="402336"/>
          </a:xfrm>
          <a:prstGeom prst="hexagon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949959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reference: Yield expressions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https://docs.python.org/3/reference/expressions.html#yield-expressions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1985772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4" name="Hexagon 13"/>
          <p:cNvSpPr/>
          <p:nvPr/>
        </p:nvSpPr>
        <p:spPr>
          <a:xfrm>
            <a:off x="502920" y="2275078"/>
            <a:ext cx="402336" cy="402336"/>
          </a:xfrm>
          <a:prstGeom prst="hexagon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2022348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glossary: decorator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https://docs.python.org/3/glossary.html#term-decorator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058160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17" name="Hexagon 16"/>
          <p:cNvSpPr/>
          <p:nvPr/>
        </p:nvSpPr>
        <p:spPr>
          <a:xfrm>
            <a:off x="502920" y="3347466"/>
            <a:ext cx="402336" cy="402336"/>
          </a:xfrm>
          <a:prstGeom prst="hexagon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094736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Python docs: typing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https://docs.python.org/3/library/typing.html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4130548"/>
            <a:ext cx="11430000" cy="980948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8AB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73152" bIns="73152"/>
          <a:lstStyle/>
          <a:p>
            <a:pPr algn="l"/>
          </a:p>
        </p:txBody>
      </p:sp>
      <p:sp>
        <p:nvSpPr>
          <p:cNvPr id="20" name="Hexagon 19"/>
          <p:cNvSpPr/>
          <p:nvPr/>
        </p:nvSpPr>
        <p:spPr>
          <a:xfrm>
            <a:off x="502920" y="4419854"/>
            <a:ext cx="402336" cy="402336"/>
          </a:xfrm>
          <a:prstGeom prst="hexagon">
            <a:avLst/>
          </a:prstGeom>
          <a:solidFill>
            <a:srgbClr val="8AB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81C30"/>
                </a:solidFill>
                <a:latin typeface="Calibri"/>
              </a:rPr>
              <a:t>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51560" y="4167124"/>
            <a:ext cx="10561320" cy="9077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PEP 484 – Type Hints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600" b="0">
                <a:solidFill>
                  <a:srgbClr val="181C30"/>
                </a:solidFill>
                <a:latin typeface="Calibri"/>
              </a:rPr>
              <a:t>https://peps.python.org/pep-0484/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5184648"/>
            <a:ext cx="11430000" cy="1143000"/>
          </a:xfrm>
          <a:prstGeom prst="roundRect">
            <a:avLst>
              <a:gd name="adj" fmla="val 15000"/>
            </a:avLst>
          </a:prstGeom>
          <a:solidFill>
            <a:srgbClr val="DEEAFF"/>
          </a:solidFill>
          <a:ln w="19050">
            <a:solidFill>
              <a:srgbClr val="4859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28016" rIns="128016" tIns="73152" bIns="73152"/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Code © CypherMonkeyLabs, MIT.  Text CC BY-NC-SA 4.0.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Educational material, not accredited coursework. No outcome is promised.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181C30"/>
                </a:solidFill>
                <a:latin typeface="Calibri"/>
              </a:rPr>
              <a:t>Python is a trademark of the Python Software Foundation.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Generators and Type Hints</dc:title>
  <dc:subject>Python Lab Level 7</dc:subject>
  <dc:creator>CypherMonkeyLabs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